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77" r:id="rId5"/>
    <p:sldId id="259" r:id="rId6"/>
    <p:sldId id="268" r:id="rId7"/>
    <p:sldId id="260" r:id="rId8"/>
    <p:sldId id="279" r:id="rId9"/>
    <p:sldId id="269" r:id="rId10"/>
    <p:sldId id="285" r:id="rId11"/>
    <p:sldId id="261" r:id="rId12"/>
    <p:sldId id="278" r:id="rId13"/>
    <p:sldId id="270" r:id="rId14"/>
    <p:sldId id="286" r:id="rId15"/>
    <p:sldId id="262" r:id="rId16"/>
    <p:sldId id="280" r:id="rId17"/>
    <p:sldId id="271" r:id="rId18"/>
    <p:sldId id="287" r:id="rId19"/>
    <p:sldId id="272" r:id="rId20"/>
    <p:sldId id="281" r:id="rId21"/>
    <p:sldId id="273" r:id="rId22"/>
    <p:sldId id="288" r:id="rId23"/>
    <p:sldId id="263" r:id="rId24"/>
    <p:sldId id="282" r:id="rId25"/>
    <p:sldId id="274" r:id="rId26"/>
    <p:sldId id="289" r:id="rId27"/>
    <p:sldId id="275" r:id="rId28"/>
    <p:sldId id="284" r:id="rId29"/>
    <p:sldId id="283" r:id="rId30"/>
    <p:sldId id="276" r:id="rId31"/>
    <p:sldId id="290" r:id="rId32"/>
    <p:sldId id="266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dhi" initials="N" lastIdx="2" clrIdx="0">
    <p:extLst>
      <p:ext uri="{19B8F6BF-5375-455C-9EA6-DF929625EA0E}">
        <p15:presenceInfo xmlns:p15="http://schemas.microsoft.com/office/powerpoint/2012/main" userId="Nidh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8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58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999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74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077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3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0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83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64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30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311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69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10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idhi%20Data%20analytics%20class\CASE%20STUDAY%20PREPARATION\CPI-CaseStudy-Mokeup\India%20CPI%20Inflation%20Case%20Study.xlsx!1Bucket%20Details!R14C7:R20C8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idhi%20Data%20analytics%20class\CASE%20STUDAY%20PREPARATION\CPI-CaseStudy-Mokeup\India%20CPI%20Inflation%20Case%20Study.xlsx!1Bucket%20Details!%5bIndia%20CPI%20Inflation%20Case%20Study.xlsx%5d1Bucket%20Details%20Chart%201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idhi%20Data%20analytics%20class\CASE%20STUDAY%20PREPARATION\CPI-CaseStudy-Mokeup\India%20CPI%20Inflation%20Case%20Study.xlsx!2.YOY%20FOR%20GENERAL%20INDEX!R7C1:R14C2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idhi%20Data%20analytics%20class\CASE%20STUDAY%20PREPARATION\CPI-CaseStudy-Mokeup\India%20CPI%20Inflation%20Case%20Study.xlsx!2.YOY%20FOR%20GENERAL%20INDEX!%5bIndia%20CPI%20Inflation%20Case%20Study.xlsx%5d2.YOY%20FOR%20GENERAL%20INDEX%20Chart%201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idhi%20Data%20analytics%20class\CASE%20STUDAY%20PREPARATION\CPI-CaseStudy-Mokeup\India%20CPI%20Inflation%20Case%20Study.xlsx!%203.1.1Months%20Ending%20May%202023!R6C1:R18C4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idhi%20Data%20analytics%20class\CASE%20STUDAY%20PREPARATION\CPI-CaseStudy-Mokeup\India%20CPI%20Inflation%20Case%20Study.xlsx!%203.1.1Months%20Ending%20May%202023!%5bIndia%20CPI%20Inflation%20Case%20Study.xlsx%5d%203.1.1Months%20Ending%20May%202023%20Chart%203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idhi%20Data%20analytics%20class\CASE%20STUDAY%20PREPARATION\CPI-CaseStudy-Mokeup\India%20CPI%20Inflation%20Case%20Study.xlsx!3.1.2%20Same%20for%20Food%20Bucket%20!R3C1:R15C2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idhi%20Data%20analytics%20class\CASE%20STUDAY%20PREPARATION\CPI-CaseStudy-Mokeup\India%20CPI%20Inflation%20Case%20Study.xlsx!3.1.2%20Same%20for%20Food%20Bucket%20!%5bIndia%20CPI%20Inflation%20Case%20Study.xlsx%5d3.1.2%20Same%20for%20Food%20Bucket%20%20Chart%201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9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idhi%20Data%20analytics%20class\CASE%20STUDAY%20PREPARATION\CPI-CaseStudy-Mokeup\India%20CPI%20Inflation%20Case%20Study.xlsx!4.Covid%20Trend!R7C1:R14C3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idhi%20Data%20analytics%20class\CASE%20STUDAY%20PREPARATION\CPI-CaseStudy-Mokeup\India%20CPI%20Inflation%20Case%20Study.xlsx!4.Covid%20Trend!%5bIndia%20CPI%20Inflation%20Case%20Study.xlsx%5d4.Covid%20Trend%20Chart%201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1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idhi%20Data%20analytics%20class\CASE%20STUDAY%20PREPARATION\CPI-CaseStudy-Mokeup\India%20CPI%20Inflation%20Case%20Study.xlsx!5.oiland%20Gas!R7C1:R36C8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idhi%20Data%20analytics%20class\CASE%20STUDAY%20PREPARATION\CPI-CaseStudy-Mokeup\India%20CPI%20Inflation%20Case%20Study.xlsx!5.oiland%20Gas!R45C2:R50C3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idhi%20Data%20analytics%20class\CASE%20STUDAY%20PREPARATION\CPI-CaseStudy-Mokeup\India%20CPI%20Inflation%20Case%20Study.xlsx!5.oiland%20Gas!%5bIndia%20CPI%20Inflation%20Case%20Study.xlsx%5d5.oiland%20Gas%20Chart%201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4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6895" y="3399182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4400" b="1" dirty="0">
                <a:solidFill>
                  <a:srgbClr val="0D2B5F"/>
                </a:solidFill>
              </a:rPr>
              <a:t>Case Study: Indian CPI Inflation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2878" y="6082746"/>
            <a:ext cx="503368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2000" dirty="0">
                <a:solidFill>
                  <a:srgbClr val="333333"/>
                </a:solidFill>
              </a:rPr>
              <a:t>Prepared by: </a:t>
            </a:r>
            <a:r>
              <a:rPr sz="2000" dirty="0" smtClean="0">
                <a:solidFill>
                  <a:srgbClr val="333333"/>
                </a:solidFill>
              </a:rPr>
              <a:t>[</a:t>
            </a:r>
            <a:r>
              <a:rPr lang="en-US" sz="2000" dirty="0" smtClean="0">
                <a:solidFill>
                  <a:srgbClr val="333333"/>
                </a:solidFill>
              </a:rPr>
              <a:t>Nidhi Desai</a:t>
            </a:r>
            <a:r>
              <a:rPr sz="2000" dirty="0" smtClean="0">
                <a:solidFill>
                  <a:srgbClr val="333333"/>
                </a:solidFill>
              </a:rPr>
              <a:t>] </a:t>
            </a:r>
            <a:r>
              <a:rPr sz="2000" dirty="0">
                <a:solidFill>
                  <a:srgbClr val="333333"/>
                </a:solidFill>
              </a:rPr>
              <a:t>| Role: Data Analyst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758" y="606286"/>
            <a:ext cx="4268651" cy="2792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3227" y="75262"/>
            <a:ext cx="2704866" cy="1129284"/>
          </a:xfrm>
        </p:spPr>
        <p:txBody>
          <a:bodyPr/>
          <a:lstStyle/>
          <a:p>
            <a:r>
              <a:rPr dirty="0">
                <a:solidFill>
                  <a:srgbClr val="0D2B5F"/>
                </a:solidFill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9570"/>
            <a:ext cx="8229600" cy="5908430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lang="en-US" b="1" dirty="0" smtClean="0"/>
              <a:t>Identify </a:t>
            </a:r>
            <a:r>
              <a:rPr lang="en-US" b="1" dirty="0"/>
              <a:t>key problems:</a:t>
            </a:r>
            <a:r>
              <a:rPr lang="en-US" dirty="0"/>
              <a:t> Detect inconsistencies and missing patterns in CPI data from 2017–2023 across rural + urban sectors.</a:t>
            </a:r>
          </a:p>
          <a:p>
            <a:r>
              <a:rPr lang="en-US" b="1" dirty="0"/>
              <a:t>Clean &amp; validate messy dataset:</a:t>
            </a:r>
            <a:r>
              <a:rPr lang="en-US" dirty="0"/>
              <a:t> Standardize category names, handle blanks, convert text dates to proper formats, and remove duplicates.</a:t>
            </a:r>
          </a:p>
          <a:p>
            <a:r>
              <a:rPr lang="en-US" b="1" dirty="0"/>
              <a:t>Analyze insights:</a:t>
            </a:r>
            <a:r>
              <a:rPr lang="en-US" dirty="0"/>
              <a:t> Examine category-wise contribution to CPI, YoY growth, COVID impact, and crude oil correlation.</a:t>
            </a:r>
          </a:p>
          <a:p>
            <a:r>
              <a:rPr lang="en-US" b="1" dirty="0"/>
              <a:t>Present business impact:</a:t>
            </a:r>
            <a:r>
              <a:rPr lang="en-US" dirty="0"/>
              <a:t> Highlight inflation-driving categories, policy relevance, and opportunities for better forecasting.</a:t>
            </a:r>
          </a:p>
          <a:p>
            <a:r>
              <a:rPr lang="en-US" b="1" dirty="0"/>
              <a:t>Problem Statement: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You are working with the </a:t>
            </a:r>
            <a:r>
              <a:rPr lang="en-US" b="1" dirty="0"/>
              <a:t>National Statistical Office</a:t>
            </a:r>
            <a:r>
              <a:rPr lang="en-US" dirty="0"/>
              <a:t> to analyze </a:t>
            </a:r>
            <a:r>
              <a:rPr lang="en-US" b="1" dirty="0"/>
              <a:t>India’s CPI inflation trends</a:t>
            </a:r>
            <a:r>
              <a:rPr lang="en-US" dirty="0"/>
              <a:t>. The goal is to derive insights on category contributions, yearly inflation changes, and external influences (COVID-19, crude oil prices) using the CPI dataset for 2017–2023.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19" y="88978"/>
            <a:ext cx="7290054" cy="496238"/>
          </a:xfrm>
        </p:spPr>
        <p:txBody>
          <a:bodyPr>
            <a:normAutofit fontScale="90000"/>
          </a:bodyPr>
          <a:lstStyle/>
          <a:p>
            <a:r>
              <a:rPr lang="en-IN" dirty="0"/>
              <a:t>CPI Case Highlights: 2017–2023</a:t>
            </a:r>
            <a:endParaRPr dirty="0">
              <a:solidFill>
                <a:srgbClr val="0D2B5F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8383780"/>
              </p:ext>
            </p:extLst>
          </p:nvPr>
        </p:nvGraphicFramePr>
        <p:xfrm>
          <a:off x="105508" y="650631"/>
          <a:ext cx="8840664" cy="556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166">
                  <a:extLst>
                    <a:ext uri="{9D8B030D-6E8A-4147-A177-3AD203B41FA5}">
                      <a16:colId xmlns:a16="http://schemas.microsoft.com/office/drawing/2014/main" val="3828252354"/>
                    </a:ext>
                  </a:extLst>
                </a:gridCol>
                <a:gridCol w="2210166">
                  <a:extLst>
                    <a:ext uri="{9D8B030D-6E8A-4147-A177-3AD203B41FA5}">
                      <a16:colId xmlns:a16="http://schemas.microsoft.com/office/drawing/2014/main" val="4218728567"/>
                    </a:ext>
                  </a:extLst>
                </a:gridCol>
                <a:gridCol w="2210166">
                  <a:extLst>
                    <a:ext uri="{9D8B030D-6E8A-4147-A177-3AD203B41FA5}">
                      <a16:colId xmlns:a16="http://schemas.microsoft.com/office/drawing/2014/main" val="1567459578"/>
                    </a:ext>
                  </a:extLst>
                </a:gridCol>
                <a:gridCol w="2210166">
                  <a:extLst>
                    <a:ext uri="{9D8B030D-6E8A-4147-A177-3AD203B41FA5}">
                      <a16:colId xmlns:a16="http://schemas.microsoft.com/office/drawing/2014/main" val="2966239049"/>
                    </a:ext>
                  </a:extLst>
                </a:gridCol>
              </a:tblGrid>
              <a:tr h="271538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Root Cause Found</a:t>
                      </a:r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Solution Applied</a:t>
                      </a:r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 </a:t>
                      </a:r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673820"/>
                  </a:ext>
                </a:extLst>
              </a:tr>
              <a:tr h="2088754">
                <a:tc>
                  <a:txBody>
                    <a:bodyPr/>
                    <a:lstStyle/>
                    <a:p>
                      <a:r>
                        <a:rPr lang="en-IN" sz="1100" dirty="0" smtClean="0">
                          <a:latin typeface="+mn-lt"/>
                          <a:cs typeface="Calibri" panose="020F0502020204030204" pitchFamily="34" charset="0"/>
                        </a:rPr>
                        <a:t>Category Contribution to CPI</a:t>
                      </a:r>
                      <a:endParaRPr lang="en-IN" sz="11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+mn-lt"/>
                          <a:cs typeface="Calibri" panose="020F0502020204030204" pitchFamily="34" charset="0"/>
                        </a:rPr>
                        <a:t>Overlapping or inconsistent category labels; missing grouping logic</a:t>
                      </a:r>
                      <a:endParaRPr lang="en-IN" sz="11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+mn-lt"/>
                        </a:rPr>
                        <a:t>Grouped detailed CPI items into broader buckets (Food, Housing, Clothing, Miscellaneous, etc.).</a:t>
                      </a:r>
                    </a:p>
                    <a:p>
                      <a:r>
                        <a:rPr lang="en-US" sz="1100" dirty="0" smtClean="0">
                          <a:latin typeface="+mn-lt"/>
                        </a:rPr>
                        <a:t>Used </a:t>
                      </a:r>
                      <a:r>
                        <a:rPr lang="en-US" sz="1100" b="1" dirty="0" smtClean="0">
                          <a:latin typeface="+mn-lt"/>
                        </a:rPr>
                        <a:t>SUMIF</a:t>
                      </a:r>
                      <a:r>
                        <a:rPr lang="en-US" sz="1100" dirty="0" smtClean="0">
                          <a:latin typeface="+mn-lt"/>
                        </a:rPr>
                        <a:t> to aggregate index values for each bucket.</a:t>
                      </a:r>
                    </a:p>
                    <a:p>
                      <a:r>
                        <a:rPr lang="en-US" sz="1100" dirty="0" smtClean="0">
                          <a:latin typeface="+mn-lt"/>
                        </a:rPr>
                        <a:t>Calculated each category’s share using =(Category Value / Total Value) * 100.</a:t>
                      </a:r>
                    </a:p>
                    <a:p>
                      <a:r>
                        <a:rPr lang="en-US" sz="1100" dirty="0" smtClean="0">
                          <a:latin typeface="+mn-lt"/>
                        </a:rPr>
                        <a:t>Created a </a:t>
                      </a:r>
                      <a:r>
                        <a:rPr lang="en-US" sz="1100" b="1" dirty="0" smtClean="0">
                          <a:latin typeface="+mn-lt"/>
                        </a:rPr>
                        <a:t>Pivot Table</a:t>
                      </a:r>
                      <a:r>
                        <a:rPr lang="en-US" sz="1100" dirty="0" smtClean="0">
                          <a:latin typeface="+mn-lt"/>
                        </a:rPr>
                        <a:t> and </a:t>
                      </a:r>
                      <a:r>
                        <a:rPr lang="en-US" sz="1100" b="1" dirty="0" smtClean="0">
                          <a:latin typeface="+mn-lt"/>
                        </a:rPr>
                        <a:t>Bar +Chart</a:t>
                      </a:r>
                      <a:r>
                        <a:rPr lang="en-US" sz="1100" dirty="0" smtClean="0">
                          <a:latin typeface="+mn-lt"/>
                        </a:rPr>
                        <a:t> to visualize contributions.</a:t>
                      </a:r>
                    </a:p>
                    <a:p>
                      <a:endParaRPr lang="en-IN" sz="11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+mn-lt"/>
                        </a:rPr>
                        <a:t>Identified </a:t>
                      </a:r>
                      <a:r>
                        <a:rPr lang="en-US" sz="1100" b="1" dirty="0" smtClean="0">
                          <a:latin typeface="+mn-lt"/>
                        </a:rPr>
                        <a:t>Food</a:t>
                      </a:r>
                      <a:r>
                        <a:rPr lang="en-US" sz="1100" dirty="0" smtClean="0">
                          <a:latin typeface="+mn-lt"/>
                        </a:rPr>
                        <a:t> as the largest contributor (≈ 47%) to CPI inflation.</a:t>
                      </a:r>
                    </a:p>
                    <a:p>
                      <a:r>
                        <a:rPr lang="en-US" sz="1100" dirty="0" smtClean="0">
                          <a:latin typeface="+mn-lt"/>
                        </a:rPr>
                        <a:t>Found </a:t>
                      </a:r>
                      <a:r>
                        <a:rPr lang="en-US" sz="1100" b="1" dirty="0" smtClean="0">
                          <a:latin typeface="+mn-lt"/>
                        </a:rPr>
                        <a:t>Miscellaneous</a:t>
                      </a:r>
                      <a:r>
                        <a:rPr lang="en-US" sz="1100" dirty="0" smtClean="0">
                          <a:latin typeface="+mn-lt"/>
                        </a:rPr>
                        <a:t> as the second-highest driver (≈ 30%).</a:t>
                      </a:r>
                    </a:p>
                    <a:p>
                      <a:r>
                        <a:rPr lang="en-US" sz="1100" dirty="0" smtClean="0">
                          <a:latin typeface="+mn-lt"/>
                        </a:rPr>
                        <a:t>Simplified analysis by reducing 30+ granular categories into 6 major groups.</a:t>
                      </a:r>
                    </a:p>
                    <a:p>
                      <a:r>
                        <a:rPr lang="en-US" sz="1100" dirty="0" smtClean="0">
                          <a:latin typeface="+mn-lt"/>
                        </a:rPr>
                        <a:t>Enabled clear prioritization for policy focus and inflation control strategies.</a:t>
                      </a:r>
                    </a:p>
                    <a:p>
                      <a:endParaRPr lang="en-IN" sz="11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523648"/>
                  </a:ext>
                </a:extLst>
              </a:tr>
              <a:tr h="1587453">
                <a:tc>
                  <a:txBody>
                    <a:bodyPr/>
                    <a:lstStyle/>
                    <a:p>
                      <a:r>
                        <a:rPr lang="en-IN" sz="11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Year-on-Year Inflation Trend</a:t>
                      </a:r>
                      <a:endParaRPr lang="en-IN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Raw data lacked clean yearly aggregation; inflation spikes not clearly visible</a:t>
                      </a:r>
                      <a:endParaRPr lang="en-IN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Cleaned yearly data and calculated YoY % change using </a:t>
                      </a:r>
                      <a:r>
                        <a:rPr lang="en-US" sz="1200" baseline="0" dirty="0" smtClean="0"/>
                        <a:t> %of Difference from </a:t>
                      </a:r>
                      <a:r>
                        <a:rPr lang="en-US" sz="1200" dirty="0" smtClean="0"/>
                        <a:t>Added Pivot Table (Year on X-axis, Buckets on Y-axis) with conditional formatting to highlight peak inflation years.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Revealed </a:t>
                      </a:r>
                      <a:r>
                        <a:rPr lang="en-US" sz="1200" b="1" dirty="0" smtClean="0"/>
                        <a:t>2022–23</a:t>
                      </a:r>
                      <a:r>
                        <a:rPr lang="en-US" sz="1200" dirty="0" smtClean="0"/>
                        <a:t> as period of highest inflation (≈5.5%), driven by food and fuel price surge. Clear visualization of annual trend enabled identification of inflationary shocks.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049212"/>
                  </a:ext>
                </a:extLst>
              </a:tr>
              <a:tr h="1587453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Food Inflation Deep Dive (12 Months)</a:t>
                      </a:r>
                      <a:endParaRPr lang="en-IN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Monthly food index values inconsistent and partially missing</a:t>
                      </a:r>
                      <a:endParaRPr lang="en-IN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Filled gaps using linear interpolation; computed </a:t>
                      </a:r>
                      <a:r>
                        <a:rPr lang="en-US" sz="1200" dirty="0" err="1" smtClean="0"/>
                        <a:t>MoM</a:t>
                      </a:r>
                      <a:r>
                        <a:rPr lang="en-US" sz="1200" dirty="0" smtClean="0"/>
                        <a:t> % change with % Difference From → Previous Month in Pivot Table. Highlighted months with sharpest rise and fall using color scale and chart annotations.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Found </a:t>
                      </a:r>
                      <a:r>
                        <a:rPr lang="en-US" sz="1200" b="1" dirty="0" smtClean="0"/>
                        <a:t>Feb’23 (+1.03%)</a:t>
                      </a:r>
                      <a:r>
                        <a:rPr lang="en-US" sz="1200" dirty="0" smtClean="0"/>
                        <a:t> peak and </a:t>
                      </a:r>
                      <a:r>
                        <a:rPr lang="en-US" sz="1200" b="1" dirty="0" smtClean="0"/>
                        <a:t>Dec’22 (-0.65%)</a:t>
                      </a:r>
                      <a:r>
                        <a:rPr lang="en-US" sz="1200" dirty="0" smtClean="0"/>
                        <a:t> trough in food inflation, showing high volatility. Helped quantify seasonal impact on food price behavior.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87565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19" y="88978"/>
            <a:ext cx="7290054" cy="496238"/>
          </a:xfrm>
        </p:spPr>
        <p:txBody>
          <a:bodyPr>
            <a:normAutofit fontScale="90000"/>
          </a:bodyPr>
          <a:lstStyle/>
          <a:p>
            <a:r>
              <a:rPr lang="en-IN" dirty="0"/>
              <a:t>CPI Case Highlights: 2017–2023</a:t>
            </a:r>
            <a:endParaRPr dirty="0">
              <a:solidFill>
                <a:srgbClr val="0D2B5F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6634339"/>
              </p:ext>
            </p:extLst>
          </p:nvPr>
        </p:nvGraphicFramePr>
        <p:xfrm>
          <a:off x="105508" y="650631"/>
          <a:ext cx="8840664" cy="447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166">
                  <a:extLst>
                    <a:ext uri="{9D8B030D-6E8A-4147-A177-3AD203B41FA5}">
                      <a16:colId xmlns:a16="http://schemas.microsoft.com/office/drawing/2014/main" val="3828252354"/>
                    </a:ext>
                  </a:extLst>
                </a:gridCol>
                <a:gridCol w="2210166">
                  <a:extLst>
                    <a:ext uri="{9D8B030D-6E8A-4147-A177-3AD203B41FA5}">
                      <a16:colId xmlns:a16="http://schemas.microsoft.com/office/drawing/2014/main" val="4218728567"/>
                    </a:ext>
                  </a:extLst>
                </a:gridCol>
                <a:gridCol w="2210166">
                  <a:extLst>
                    <a:ext uri="{9D8B030D-6E8A-4147-A177-3AD203B41FA5}">
                      <a16:colId xmlns:a16="http://schemas.microsoft.com/office/drawing/2014/main" val="1567459578"/>
                    </a:ext>
                  </a:extLst>
                </a:gridCol>
                <a:gridCol w="2210166">
                  <a:extLst>
                    <a:ext uri="{9D8B030D-6E8A-4147-A177-3AD203B41FA5}">
                      <a16:colId xmlns:a16="http://schemas.microsoft.com/office/drawing/2014/main" val="2966239049"/>
                    </a:ext>
                  </a:extLst>
                </a:gridCol>
              </a:tblGrid>
              <a:tr h="271538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Root Cause Found</a:t>
                      </a:r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Solution Applied</a:t>
                      </a:r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 </a:t>
                      </a:r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673820"/>
                  </a:ext>
                </a:extLst>
              </a:tr>
              <a:tr h="2088754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+mn-lt"/>
                        </a:rPr>
                        <a:t>COVID-19 Impact on CPI</a:t>
                      </a:r>
                      <a:endParaRPr lang="en-IN" sz="12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Pre- and post-COVID data mixed, no clear tagging for lockdown periods</a:t>
                      </a:r>
                      <a:endParaRPr lang="en-IN" sz="12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Created helper column for COVID status using =IF(Date&lt;DATE(2020,3,1),"Pre-</a:t>
                      </a:r>
                      <a:r>
                        <a:rPr lang="en-US" sz="1200" dirty="0" err="1" smtClean="0">
                          <a:latin typeface="+mn-lt"/>
                        </a:rPr>
                        <a:t>COVID","Post</a:t>
                      </a:r>
                      <a:r>
                        <a:rPr lang="en-US" sz="1200" dirty="0" smtClean="0">
                          <a:latin typeface="+mn-lt"/>
                        </a:rPr>
                        <a:t>-COVID"). Averaged CPI values pre/post COVID via Pivot Table and compared in clustered column chart.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Showed sharp post-COVID inflation in all categories — especially </a:t>
                      </a:r>
                      <a:r>
                        <a:rPr lang="en-US" sz="1200" b="1" dirty="0" smtClean="0">
                          <a:latin typeface="+mn-lt"/>
                        </a:rPr>
                        <a:t>Food</a:t>
                      </a:r>
                      <a:r>
                        <a:rPr lang="en-US" sz="1200" dirty="0" smtClean="0">
                          <a:latin typeface="+mn-lt"/>
                        </a:rPr>
                        <a:t> (+26%) and </a:t>
                      </a:r>
                      <a:r>
                        <a:rPr lang="en-US" sz="1200" b="1" dirty="0" smtClean="0">
                          <a:latin typeface="+mn-lt"/>
                        </a:rPr>
                        <a:t>Miscellaneous</a:t>
                      </a:r>
                      <a:r>
                        <a:rPr lang="en-US" sz="1200" dirty="0" smtClean="0">
                          <a:latin typeface="+mn-lt"/>
                        </a:rPr>
                        <a:t> (+24%). Confirmed pandemic’s inflationary pressure due to supply disruptions and higher demand.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033258"/>
                  </a:ext>
                </a:extLst>
              </a:tr>
              <a:tr h="208875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>
                          <a:latin typeface="+mn-lt"/>
                          <a:cs typeface="Calibri" panose="020F0502020204030204" pitchFamily="34" charset="0"/>
                        </a:rPr>
                        <a:t>Global Oil Price Correlation</a:t>
                      </a:r>
                    </a:p>
                    <a:p>
                      <a:endParaRPr lang="en-IN" sz="12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No linkage between imported oil data and domestic CPI categories; oil data missing in main file</a:t>
                      </a:r>
                      <a:endParaRPr lang="en-IN" sz="12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Pulled crude oil </a:t>
                      </a:r>
                      <a:r>
                        <a:rPr lang="en-US" sz="1200" dirty="0" err="1" smtClean="0">
                          <a:latin typeface="+mn-lt"/>
                        </a:rPr>
                        <a:t>MoM</a:t>
                      </a:r>
                      <a:r>
                        <a:rPr lang="en-US" sz="1200" dirty="0" smtClean="0">
                          <a:latin typeface="+mn-lt"/>
                        </a:rPr>
                        <a:t> % data (2013–2023) from external source. Added helper column </a:t>
                      </a:r>
                      <a:r>
                        <a:rPr lang="en-US" sz="1200" b="1" dirty="0" smtClean="0">
                          <a:latin typeface="+mn-lt"/>
                        </a:rPr>
                        <a:t>“</a:t>
                      </a:r>
                      <a:r>
                        <a:rPr lang="en-US" sz="1200" b="1" dirty="0" err="1" smtClean="0">
                          <a:latin typeface="+mn-lt"/>
                        </a:rPr>
                        <a:t>Cruid</a:t>
                      </a:r>
                      <a:r>
                        <a:rPr lang="en-US" sz="1200" b="1" dirty="0" smtClean="0">
                          <a:latin typeface="+mn-lt"/>
                        </a:rPr>
                        <a:t> Bucket”</a:t>
                      </a:r>
                      <a:r>
                        <a:rPr lang="en-US" sz="1200" dirty="0" smtClean="0">
                          <a:latin typeface="+mn-lt"/>
                        </a:rPr>
                        <a:t> via VLOOKUP to map with CPI dataset. Used =CORREL(</a:t>
                      </a:r>
                      <a:r>
                        <a:rPr lang="en-US" sz="1200" dirty="0" err="1" smtClean="0">
                          <a:latin typeface="+mn-lt"/>
                        </a:rPr>
                        <a:t>Crude_Range</a:t>
                      </a:r>
                      <a:r>
                        <a:rPr lang="en-US" sz="1200" dirty="0" smtClean="0">
                          <a:latin typeface="+mn-lt"/>
                        </a:rPr>
                        <a:t>, </a:t>
                      </a:r>
                      <a:r>
                        <a:rPr lang="en-US" sz="1200" dirty="0" err="1" smtClean="0">
                          <a:latin typeface="+mn-lt"/>
                        </a:rPr>
                        <a:t>CPI_Range</a:t>
                      </a:r>
                      <a:r>
                        <a:rPr lang="en-US" sz="1200" dirty="0" smtClean="0">
                          <a:latin typeface="+mn-lt"/>
                        </a:rPr>
                        <a:t>) to compute relationships for each category.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Found </a:t>
                      </a:r>
                      <a:r>
                        <a:rPr lang="en-US" sz="1200" b="1" dirty="0" smtClean="0">
                          <a:latin typeface="+mn-lt"/>
                        </a:rPr>
                        <a:t>highest correlation with Clothing &amp; Footwear (r = 0.35)</a:t>
                      </a:r>
                      <a:r>
                        <a:rPr lang="en-US" sz="1200" dirty="0" smtClean="0">
                          <a:latin typeface="+mn-lt"/>
                        </a:rPr>
                        <a:t> and </a:t>
                      </a:r>
                      <a:r>
                        <a:rPr lang="en-US" sz="1200" b="1" dirty="0" smtClean="0">
                          <a:latin typeface="+mn-lt"/>
                        </a:rPr>
                        <a:t>Pan/Tobacco (r = 0.26)</a:t>
                      </a:r>
                      <a:r>
                        <a:rPr lang="en-US" sz="1200" dirty="0" smtClean="0">
                          <a:latin typeface="+mn-lt"/>
                        </a:rPr>
                        <a:t>, indicating pass-through of oil cost to consumer goods. Weak or negative correlation with Food &amp; Housing confirmed low direct dependency.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595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36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5296" y="66470"/>
            <a:ext cx="7290054" cy="619330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0D2B5F"/>
                </a:solidFill>
              </a:rPr>
              <a:t>Data </a:t>
            </a:r>
            <a:r>
              <a:rPr dirty="0">
                <a:solidFill>
                  <a:srgbClr val="0D2B5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Cleaning</a:t>
            </a:r>
            <a:r>
              <a:rPr dirty="0">
                <a:solidFill>
                  <a:srgbClr val="0D2B5F"/>
                </a:solidFill>
              </a:rPr>
              <a:t> – Before vs After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8096" y="993531"/>
            <a:ext cx="7290055" cy="5315829"/>
          </a:xfrm>
        </p:spPr>
        <p:txBody>
          <a:bodyPr/>
          <a:lstStyle/>
          <a:p>
            <a:pPr marL="128016" lvl="1" indent="0" algn="ctr">
              <a:buNone/>
            </a:pPr>
            <a:r>
              <a:rPr lang="en-US" dirty="0"/>
              <a:t>1. Issues in Raw Dataset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239599"/>
              </p:ext>
            </p:extLst>
          </p:nvPr>
        </p:nvGraphicFramePr>
        <p:xfrm>
          <a:off x="1524000" y="1397000"/>
          <a:ext cx="60960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20332187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9244749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25764125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48211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Issue Found</a:t>
                      </a:r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Example</a:t>
                      </a:r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Action Taken</a:t>
                      </a:r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Final Outcome</a:t>
                      </a:r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62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Missing values / NULL entries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NULL or blank cells in “Milk and products” / “Fruits” columns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Apply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 find and replace features</a:t>
                      </a:r>
                      <a:r>
                        <a:rPr lang="en-US" sz="1200" baseline="0" dirty="0" smtClean="0"/>
                        <a:t>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All missing filled logically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975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Typos / Inconsistent text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For moth</a:t>
                      </a:r>
                      <a:r>
                        <a:rPr lang="en-US" sz="1200" baseline="0" dirty="0" smtClean="0"/>
                        <a:t> or March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Apply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 find and replace features</a:t>
                      </a:r>
                      <a:r>
                        <a:rPr lang="en-US" sz="1200" baseline="0" dirty="0" smtClean="0"/>
                        <a:t>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/>
                        <a:t>All missing filled logically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082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Wrong Data Type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Month/Year stored as Text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Converted to proper Date or formatted numeric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Clean data types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92299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5296" y="66470"/>
            <a:ext cx="7290054" cy="619330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0D2B5F"/>
                </a:solidFill>
              </a:rPr>
              <a:t>Data </a:t>
            </a:r>
            <a:r>
              <a:rPr dirty="0">
                <a:solidFill>
                  <a:srgbClr val="0D2B5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Cleaning</a:t>
            </a:r>
            <a:r>
              <a:rPr dirty="0">
                <a:solidFill>
                  <a:srgbClr val="0D2B5F"/>
                </a:solidFill>
              </a:rPr>
              <a:t> – Before vs After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8096" y="993531"/>
            <a:ext cx="7290055" cy="5315829"/>
          </a:xfrm>
        </p:spPr>
        <p:txBody>
          <a:bodyPr/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/>
              <a:t> 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430235"/>
              </p:ext>
            </p:extLst>
          </p:nvPr>
        </p:nvGraphicFramePr>
        <p:xfrm>
          <a:off x="1837598" y="2007287"/>
          <a:ext cx="4572000" cy="1541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20332187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9244749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2576412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Metric</a:t>
                      </a:r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Before Cleaning</a:t>
                      </a:r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After Cleaning</a:t>
                      </a:r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62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Total Rows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372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975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Null</a:t>
                      </a:r>
                      <a:r>
                        <a:rPr lang="en-IN" baseline="0" dirty="0" smtClean="0"/>
                        <a:t> </a:t>
                      </a:r>
                      <a:r>
                        <a:rPr lang="en-IN" dirty="0" smtClean="0"/>
                        <a:t>Values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082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Wrong Spellings / Case Errors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92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978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934" y="0"/>
            <a:ext cx="7290054" cy="624254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0D2B5F"/>
                </a:solidFill>
              </a:rPr>
              <a:t>Problem 1: Analysis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262" y="624254"/>
            <a:ext cx="8801099" cy="6049108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r>
              <a:rPr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was the issue</a:t>
            </a:r>
            <a:r>
              <a:rPr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Needed to understand which major CPI categories (Food, Housing, Education, etc.) contributed most to overall inflation, to identify which price movements were driving CPI changes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r>
              <a:rPr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Insight 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from data </a:t>
            </a:r>
            <a:endParaRPr lang="en-US" sz="1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Built a pivot table to aggregate index values by broader category.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</a:t>
            </a:r>
            <a:endParaRPr lang="en-US" dirty="0" smtClean="0"/>
          </a:p>
          <a:p>
            <a:pPr>
              <a:defRPr sz="1800">
                <a:solidFill>
                  <a:srgbClr val="333333"/>
                </a:solidFill>
              </a:defRPr>
            </a:pPr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307788"/>
              </p:ext>
            </p:extLst>
          </p:nvPr>
        </p:nvGraphicFramePr>
        <p:xfrm>
          <a:off x="377335" y="2757488"/>
          <a:ext cx="6820757" cy="2491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Worksheet" r:id="rId3" imgW="3676680" imgH="1343065" progId="Excel.Sheet.12">
                  <p:link updateAutomatic="1"/>
                </p:oleObj>
              </mc:Choice>
              <mc:Fallback>
                <p:oleObj name="Worksheet" r:id="rId3" imgW="3676680" imgH="134306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7335" y="2757488"/>
                        <a:ext cx="6820757" cy="2491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934" y="0"/>
            <a:ext cx="7290054" cy="624254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0D2B5F"/>
                </a:solidFill>
              </a:rPr>
              <a:t>Problem 1: Analysis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262" y="624254"/>
            <a:ext cx="8801099" cy="604910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Used a bar chart for clarity to visualize contribution %.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</a:t>
            </a:r>
            <a:endParaRPr lang="en-US" dirty="0" smtClean="0"/>
          </a:p>
          <a:p>
            <a:pPr>
              <a:defRPr sz="1800">
                <a:solidFill>
                  <a:srgbClr val="333333"/>
                </a:solidFill>
              </a:defRPr>
            </a:pP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3761426" y="4809631"/>
            <a:ext cx="392920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Top Categories: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Food: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~47% (highest)</a:t>
            </a:r>
          </a:p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Miscellaneous: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~30%</a:t>
            </a:r>
          </a:p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Clothing &amp; Footwear: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~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12%</a:t>
            </a:r>
          </a:p>
          <a:p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Remaining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categories collectively under 10%.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9178112"/>
              </p:ext>
            </p:extLst>
          </p:nvPr>
        </p:nvGraphicFramePr>
        <p:xfrm>
          <a:off x="158262" y="1248508"/>
          <a:ext cx="8686800" cy="5182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" name="Worksheet" r:id="rId3" imgW="10248840" imgH="4533833" progId="Excel.Sheet.12">
                  <p:link updateAutomatic="1"/>
                </p:oleObj>
              </mc:Choice>
              <mc:Fallback>
                <p:oleObj name="Worksheet" r:id="rId3" imgW="10248840" imgH="453383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262" y="1248508"/>
                        <a:ext cx="8686800" cy="5182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6668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746" y="131885"/>
            <a:ext cx="7290054" cy="624254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0D2B5F"/>
                </a:solidFill>
              </a:rPr>
              <a:t>Problem 1: Analysis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931" y="861646"/>
            <a:ext cx="8132884" cy="5820507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r>
              <a:rPr sz="2400" dirty="0" smtClean="0">
                <a:cs typeface="Calibri" panose="020F0502020204030204" pitchFamily="34" charset="0"/>
              </a:rPr>
              <a:t>Solution </a:t>
            </a:r>
            <a:r>
              <a:rPr sz="2400" dirty="0">
                <a:cs typeface="Calibri" panose="020F0502020204030204" pitchFamily="34" charset="0"/>
              </a:rPr>
              <a:t>/ Action – formula, automation, BI </a:t>
            </a:r>
            <a:r>
              <a:rPr sz="2400" dirty="0" smtClean="0">
                <a:cs typeface="Calibri" panose="020F0502020204030204" pitchFamily="34" charset="0"/>
              </a:rPr>
              <a:t>logic</a:t>
            </a:r>
            <a:endParaRPr lang="en-US" sz="2400" dirty="0" smtClean="0"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cs typeface="Calibri" panose="020F0502020204030204" pitchFamily="34" charset="0"/>
              </a:rPr>
              <a:t>Created broader buckets by grouping similar items (e.g., Cereals, Beverages → “Food</a:t>
            </a:r>
            <a:r>
              <a:rPr lang="en-US" altLang="en-US" sz="1400" dirty="0" smtClean="0">
                <a:cs typeface="Calibri" panose="020F0502020204030204" pitchFamily="34" charset="0"/>
              </a:rPr>
              <a:t>”).</a:t>
            </a:r>
            <a:endParaRPr lang="en-US" altLang="en-US" sz="1400" dirty="0"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cs typeface="Calibri" panose="020F0502020204030204" pitchFamily="34" charset="0"/>
              </a:rPr>
              <a:t>Used Excel formulas: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cs typeface="Calibri" panose="020F0502020204030204" pitchFamily="34" charset="0"/>
              </a:rPr>
              <a:t>SUMIF(FinalCPIData!AG2:AG500,"&lt;&gt;#N/A") – to sum valid bucket data</a:t>
            </a:r>
            <a:r>
              <a:rPr lang="en-US" altLang="en-US" sz="1400" dirty="0" smtClean="0">
                <a:cs typeface="Calibri" panose="020F0502020204030204" pitchFamily="34" charset="0"/>
              </a:rPr>
              <a:t>.</a:t>
            </a:r>
            <a:endParaRPr lang="en-US" altLang="en-US" sz="1400" dirty="0"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cs typeface="Calibri" panose="020F0502020204030204" pitchFamily="34" charset="0"/>
              </a:rPr>
              <a:t>(B5/$B$12)*100 – to calculate percentage contribution</a:t>
            </a:r>
            <a:r>
              <a:rPr lang="en-US" altLang="en-US" sz="1400" dirty="0" smtClean="0">
                <a:cs typeface="Calibri" panose="020F0502020204030204" pitchFamily="34" charset="0"/>
              </a:rPr>
              <a:t>.</a:t>
            </a:r>
            <a:endParaRPr lang="en-US" altLang="en-US" sz="1400" dirty="0"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cs typeface="Calibri" panose="020F0502020204030204" pitchFamily="34" charset="0"/>
              </a:rPr>
              <a:t>Validated totals to ensure all categories added to 100</a:t>
            </a:r>
            <a:r>
              <a:rPr lang="en-US" altLang="en-US" sz="1400" dirty="0" smtClean="0">
                <a:cs typeface="Calibri" panose="020F0502020204030204" pitchFamily="34" charset="0"/>
              </a:rPr>
              <a:t>%.</a:t>
            </a:r>
            <a:endParaRPr sz="1400" dirty="0"/>
          </a:p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endParaRPr lang="en-US" sz="1800" dirty="0" smtClean="0"/>
          </a:p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endParaRPr lang="en-US" sz="2400" dirty="0"/>
          </a:p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r>
              <a:rPr sz="2400" dirty="0" err="1" smtClean="0"/>
              <a:t>D.Result</a:t>
            </a:r>
            <a:r>
              <a:rPr sz="2400" dirty="0" smtClean="0"/>
              <a:t> </a:t>
            </a:r>
            <a:r>
              <a:rPr sz="2400" dirty="0"/>
              <a:t>/ Business Impact – show Before vs After </a:t>
            </a:r>
            <a:r>
              <a:rPr sz="2400" dirty="0" smtClean="0"/>
              <a:t>table</a:t>
            </a:r>
            <a:endParaRPr lang="en-US" sz="24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764931" y="3554245"/>
            <a:ext cx="81328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Identified </a:t>
            </a:r>
            <a:r>
              <a:rPr lang="en-US" altLang="en-US" sz="1400" b="1" dirty="0"/>
              <a:t>Food</a:t>
            </a:r>
            <a:r>
              <a:rPr lang="en-US" altLang="en-US" sz="1400" dirty="0"/>
              <a:t> as the primary inflation driver.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Key finding: Food + Miscellaneous = ~80% of CPI influence.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Insight helps policymakers and analysts focus on food supply and consumption trends for better inflation management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084590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746" y="131885"/>
            <a:ext cx="7290054" cy="624254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0D2B5F"/>
                </a:solidFill>
              </a:rPr>
              <a:t>Problem 1: Analysis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923" y="861646"/>
            <a:ext cx="8968154" cy="5820507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r>
              <a:rPr sz="1600" dirty="0" smtClean="0"/>
              <a:t>Business Impact</a:t>
            </a:r>
            <a:endParaRPr sz="1600" dirty="0"/>
          </a:p>
        </p:txBody>
      </p:sp>
      <p:sp>
        <p:nvSpPr>
          <p:cNvPr id="9" name="Rectangle 8"/>
          <p:cNvSpPr/>
          <p:nvPr/>
        </p:nvSpPr>
        <p:spPr>
          <a:xfrm>
            <a:off x="668214" y="5474385"/>
            <a:ext cx="813288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/>
              <a:t>Summary: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Food + </a:t>
            </a:r>
            <a:r>
              <a:rPr lang="en-US" sz="1400" dirty="0" err="1"/>
              <a:t>Misc</a:t>
            </a:r>
            <a:r>
              <a:rPr lang="en-US" sz="1400" dirty="0"/>
              <a:t> deliver </a:t>
            </a:r>
            <a:r>
              <a:rPr lang="en-US" sz="1400" b="1" dirty="0"/>
              <a:t>3.25 points</a:t>
            </a:r>
            <a:r>
              <a:rPr lang="en-US" sz="1400" dirty="0"/>
              <a:t> potential CPI improvement even with small corrections.</a:t>
            </a:r>
            <a:br>
              <a:rPr lang="en-US" sz="1400" dirty="0"/>
            </a:br>
            <a:r>
              <a:rPr lang="en-US" sz="1400" dirty="0"/>
              <a:t>These two categories control </a:t>
            </a:r>
            <a:r>
              <a:rPr lang="en-US" sz="1400" b="1" dirty="0"/>
              <a:t>~80% of overall CPI movement</a:t>
            </a:r>
            <a:r>
              <a:rPr lang="en-US" sz="1400" dirty="0"/>
              <a:t>, making them top priority.</a:t>
            </a:r>
            <a:endParaRPr lang="en-IN" sz="1400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225465"/>
              </p:ext>
            </p:extLst>
          </p:nvPr>
        </p:nvGraphicFramePr>
        <p:xfrm>
          <a:off x="668214" y="1154906"/>
          <a:ext cx="8036170" cy="4213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234">
                  <a:extLst>
                    <a:ext uri="{9D8B030D-6E8A-4147-A177-3AD203B41FA5}">
                      <a16:colId xmlns:a16="http://schemas.microsoft.com/office/drawing/2014/main" val="2391059369"/>
                    </a:ext>
                  </a:extLst>
                </a:gridCol>
                <a:gridCol w="1607234">
                  <a:extLst>
                    <a:ext uri="{9D8B030D-6E8A-4147-A177-3AD203B41FA5}">
                      <a16:colId xmlns:a16="http://schemas.microsoft.com/office/drawing/2014/main" val="829353819"/>
                    </a:ext>
                  </a:extLst>
                </a:gridCol>
                <a:gridCol w="1607234">
                  <a:extLst>
                    <a:ext uri="{9D8B030D-6E8A-4147-A177-3AD203B41FA5}">
                      <a16:colId xmlns:a16="http://schemas.microsoft.com/office/drawing/2014/main" val="3670784233"/>
                    </a:ext>
                  </a:extLst>
                </a:gridCol>
                <a:gridCol w="1607234">
                  <a:extLst>
                    <a:ext uri="{9D8B030D-6E8A-4147-A177-3AD203B41FA5}">
                      <a16:colId xmlns:a16="http://schemas.microsoft.com/office/drawing/2014/main" val="340209572"/>
                    </a:ext>
                  </a:extLst>
                </a:gridCol>
                <a:gridCol w="1607234">
                  <a:extLst>
                    <a:ext uri="{9D8B030D-6E8A-4147-A177-3AD203B41FA5}">
                      <a16:colId xmlns:a16="http://schemas.microsoft.com/office/drawing/2014/main" val="382379555"/>
                    </a:ext>
                  </a:extLst>
                </a:gridCol>
              </a:tblGrid>
              <a:tr h="86117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Category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Contribution %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Improvement %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CPI Reduction (Points)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Interpretation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204279"/>
                  </a:ext>
                </a:extLst>
              </a:tr>
              <a:tr h="722273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Food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47%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5%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2.35 points</a:t>
                      </a:r>
                    </a:p>
                    <a:p>
                      <a:pPr algn="ctr"/>
                      <a:r>
                        <a:rPr lang="en-IN" sz="1400" dirty="0" smtClean="0"/>
                        <a:t>(47*5)/100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Strongest CPI driver. Small improvement gives largest CPI drop.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354179"/>
                  </a:ext>
                </a:extLst>
              </a:tr>
              <a:tr h="722273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Miscellaneous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30%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3%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0.9 points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Service-related inflation has moderate but meaningful impact.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978871"/>
                  </a:ext>
                </a:extLst>
              </a:tr>
              <a:tr h="722273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Clothing &amp; Footwear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12%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2%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0.24 points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Low-impact category; minor contribution to CPI reduction.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343075"/>
                  </a:ext>
                </a:extLst>
              </a:tr>
              <a:tr h="450649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Other categories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11%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2%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0.22 points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Minimal overall effect.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099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20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683" y="37429"/>
            <a:ext cx="7886700" cy="530897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rgbClr val="0D2B5F"/>
                </a:solidFill>
              </a:rPr>
              <a:t>Problem 2: Analysis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49" y="506778"/>
            <a:ext cx="8875836" cy="635122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 err="1" smtClean="0"/>
              <a:t>A.what</a:t>
            </a:r>
            <a:r>
              <a:rPr dirty="0" smtClean="0"/>
              <a:t> </a:t>
            </a:r>
            <a:r>
              <a:rPr dirty="0"/>
              <a:t>was the issue</a:t>
            </a:r>
            <a:r>
              <a:rPr dirty="0" smtClean="0"/>
              <a:t>?</a:t>
            </a:r>
            <a:endParaRPr lang="en-US" dirty="0"/>
          </a:p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r>
              <a:rPr lang="en-US" sz="1800" dirty="0"/>
              <a:t>The year-on-year (YoY) CPI inflation trend for rural and urban areas from 2017–2023 showed inconsistent movement, with a sharp rise and steep decline in some years. The goal was to analyze and identify which year had the highest inflation and understand the underlying reasons.</a:t>
            </a: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B. Insight from data – pivot table or </a:t>
            </a:r>
            <a:r>
              <a:rPr dirty="0" smtClean="0"/>
              <a:t>chart</a:t>
            </a:r>
            <a:endParaRPr lang="en-US" dirty="0" smtClean="0"/>
          </a:p>
          <a:p>
            <a:pPr>
              <a:defRPr sz="1800">
                <a:solidFill>
                  <a:srgbClr val="333333"/>
                </a:solidFill>
              </a:defRPr>
            </a:pPr>
            <a:endParaRPr lang="en-US" dirty="0" smtClean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965471"/>
              </p:ext>
            </p:extLst>
          </p:nvPr>
        </p:nvGraphicFramePr>
        <p:xfrm>
          <a:off x="3056059" y="2961176"/>
          <a:ext cx="2482711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Worksheet" r:id="rId3" imgW="1467000" imgH="1533698" progId="Excel.Sheet.12">
                  <p:link updateAutomatic="1"/>
                </p:oleObj>
              </mc:Choice>
              <mc:Fallback>
                <p:oleObj name="Worksheet" r:id="rId3" imgW="1467000" imgH="153369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6059" y="2961176"/>
                        <a:ext cx="2482711" cy="2595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683" y="37430"/>
            <a:ext cx="7886700" cy="409832"/>
          </a:xfrm>
        </p:spPr>
        <p:txBody>
          <a:bodyPr>
            <a:normAutofit fontScale="90000"/>
          </a:bodyPr>
          <a:lstStyle/>
          <a:p>
            <a:r>
              <a:rPr smtClean="0">
                <a:solidFill>
                  <a:srgbClr val="0D2B5F"/>
                </a:solidFill>
              </a:rPr>
              <a:t>Problem 2: Analysis &amp; Insights</a:t>
            </a:r>
            <a:endParaRPr dirty="0">
              <a:solidFill>
                <a:srgbClr val="0D2B5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49" y="851456"/>
            <a:ext cx="8875836" cy="600654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1669632" y="851457"/>
            <a:ext cx="7285338" cy="152864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A line chart was created to show the </a:t>
            </a:r>
            <a:r>
              <a:rPr lang="en-US" sz="1400" b="1" dirty="0"/>
              <a:t>Year-on-Year % Difference in CPI (2017–2023)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Data highlighted clear inflationary peaks and drops across years.</a:t>
            </a:r>
          </a:p>
          <a:p>
            <a:r>
              <a:rPr lang="en-US" sz="1400" b="1" dirty="0"/>
              <a:t>Insights:</a:t>
            </a:r>
            <a:endParaRPr lang="en-US" sz="1400" dirty="0"/>
          </a:p>
          <a:p>
            <a:r>
              <a:rPr lang="en-US" sz="1400" b="1" dirty="0"/>
              <a:t>2021</a:t>
            </a:r>
            <a:r>
              <a:rPr lang="en-US" sz="1400" dirty="0"/>
              <a:t> recorded the highest inflation rate (</a:t>
            </a:r>
            <a:r>
              <a:rPr lang="en-US" sz="1400" b="1" dirty="0"/>
              <a:t>+26.33%</a:t>
            </a:r>
            <a:r>
              <a:rPr lang="en-US" sz="1400" dirty="0"/>
              <a:t>).</a:t>
            </a:r>
          </a:p>
          <a:p>
            <a:r>
              <a:rPr lang="en-US" sz="1400" b="1" dirty="0"/>
              <a:t>2023</a:t>
            </a:r>
            <a:r>
              <a:rPr lang="en-US" sz="1400" dirty="0"/>
              <a:t> saw the sharpest decline (</a:t>
            </a:r>
            <a:r>
              <a:rPr lang="en-US" sz="1400" b="1" dirty="0"/>
              <a:t>–57%</a:t>
            </a:r>
            <a:r>
              <a:rPr lang="en-US" sz="1400" dirty="0"/>
              <a:t>).</a:t>
            </a:r>
          </a:p>
          <a:p>
            <a:r>
              <a:rPr lang="en-US" sz="1400" dirty="0"/>
              <a:t>The inflation trend was relatively stable from 2017 to 2019 before major fluctuations post-2020.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-418993" y="539189"/>
            <a:ext cx="79498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 </a:t>
            </a:r>
            <a:r>
              <a:rPr lang="en-US" b="1" dirty="0"/>
              <a:t>Visualization Used:</a:t>
            </a:r>
            <a:r>
              <a:rPr lang="en-US" dirty="0"/>
              <a:t> Line chart showing </a:t>
            </a:r>
            <a:r>
              <a:rPr lang="en-IN" b="1" dirty="0"/>
              <a:t>Year-on-Year CPI Inflation (Rural + Urban), 2017–2023</a:t>
            </a:r>
            <a:endParaRPr lang="en-US" b="1" dirty="0"/>
          </a:p>
          <a:p>
            <a:pPr>
              <a:defRPr sz="1800">
                <a:solidFill>
                  <a:srgbClr val="333333"/>
                </a:solidFill>
              </a:defRPr>
            </a:pPr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975200"/>
              </p:ext>
            </p:extLst>
          </p:nvPr>
        </p:nvGraphicFramePr>
        <p:xfrm>
          <a:off x="246063" y="2803525"/>
          <a:ext cx="8709025" cy="363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9" name="Worksheet" r:id="rId3" imgW="9705960" imgH="4838847" progId="Excel.Sheet.12">
                  <p:link updateAutomatic="1"/>
                </p:oleObj>
              </mc:Choice>
              <mc:Fallback>
                <p:oleObj name="Worksheet" r:id="rId3" imgW="9705960" imgH="483884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6063" y="2803525"/>
                        <a:ext cx="8709025" cy="363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3021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1653"/>
            <a:ext cx="7886700" cy="572601"/>
          </a:xfrm>
        </p:spPr>
        <p:txBody>
          <a:bodyPr/>
          <a:lstStyle/>
          <a:p>
            <a:r>
              <a:rPr dirty="0">
                <a:solidFill>
                  <a:srgbClr val="0D2B5F"/>
                </a:solidFill>
              </a:rPr>
              <a:t>Problem 2: Analysis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412" y="621079"/>
            <a:ext cx="8497765" cy="4891840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endParaRPr dirty="0" smtClean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C. Solution / Action – formula, automation, BI </a:t>
            </a:r>
            <a:r>
              <a:rPr dirty="0" smtClean="0"/>
              <a:t>logic</a:t>
            </a:r>
            <a:endParaRPr lang="en-US" dirty="0" smtClean="0"/>
          </a:p>
          <a:p>
            <a:r>
              <a:rPr lang="en-US" sz="1200" dirty="0" smtClean="0"/>
              <a:t>Calculated the </a:t>
            </a:r>
            <a:r>
              <a:rPr lang="en-US" sz="1200" b="1" dirty="0" smtClean="0"/>
              <a:t>% Difference</a:t>
            </a:r>
            <a:r>
              <a:rPr lang="en-US" sz="1200" dirty="0" smtClean="0"/>
              <a:t> for each year’s CPI value compared to the previous year.</a:t>
            </a:r>
          </a:p>
          <a:p>
            <a:r>
              <a:rPr lang="en-US" sz="1200" dirty="0" smtClean="0"/>
              <a:t>Used Excel’s “Show Values As → % Difference From” to automate YoY change.</a:t>
            </a:r>
          </a:p>
          <a:p>
            <a:r>
              <a:rPr lang="en-US" sz="1200" dirty="0" smtClean="0"/>
              <a:t>Created a </a:t>
            </a:r>
            <a:r>
              <a:rPr lang="en-US" sz="1200" b="1" dirty="0" smtClean="0"/>
              <a:t>line chart</a:t>
            </a:r>
            <a:r>
              <a:rPr lang="en-US" sz="1200" dirty="0" smtClean="0"/>
              <a:t> to visualize the YoY % Difference trend.</a:t>
            </a:r>
          </a:p>
          <a:p>
            <a:r>
              <a:rPr lang="en-US" sz="1200" dirty="0" smtClean="0"/>
              <a:t>Highlighted </a:t>
            </a:r>
            <a:r>
              <a:rPr lang="en-US" sz="1200" b="1" dirty="0" smtClean="0"/>
              <a:t>2021</a:t>
            </a:r>
            <a:r>
              <a:rPr lang="en-US" sz="1200" dirty="0" smtClean="0"/>
              <a:t> (highest point) in a distinct color for emphasis.</a:t>
            </a:r>
          </a:p>
          <a:p>
            <a:r>
              <a:rPr lang="en-US" sz="1200" dirty="0" smtClean="0"/>
              <a:t>Added annotation for 2023 showing a steep fall.</a:t>
            </a:r>
          </a:p>
          <a:p>
            <a:r>
              <a:rPr lang="en-US" sz="1200" b="1" dirty="0" smtClean="0"/>
              <a:t>Insight:</a:t>
            </a:r>
            <a:r>
              <a:rPr lang="en-US" sz="1200" dirty="0" smtClean="0"/>
              <a:t> The spike in 2021 was mainly due to global edible oil and crude price increases, supply chain disruptions, and post-pandemic demand recovery.</a:t>
            </a:r>
          </a:p>
          <a:p>
            <a:pPr marL="0" indent="0">
              <a:buNone/>
            </a:pP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D. </a:t>
            </a:r>
            <a:r>
              <a:rPr dirty="0" smtClean="0"/>
              <a:t>Result</a:t>
            </a:r>
            <a:r>
              <a:rPr lang="en-US" dirty="0" smtClean="0"/>
              <a:t> </a:t>
            </a:r>
            <a:r>
              <a:rPr dirty="0" smtClean="0"/>
              <a:t>– </a:t>
            </a:r>
            <a:r>
              <a:rPr dirty="0"/>
              <a:t>show Before vs After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20525"/>
              </p:ext>
            </p:extLst>
          </p:nvPr>
        </p:nvGraphicFramePr>
        <p:xfrm>
          <a:off x="383931" y="3744846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24785362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713214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70842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CPI YoY % Difference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Observation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923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2017–2019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3.96%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Stable inflation trend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389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2021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+26.33%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Peak inflation post-pandemic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53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2022–2023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–57%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Correction and stabilization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52152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15412" y="5512918"/>
            <a:ext cx="714008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/>
              <a:t>Impact / Outcome:</a:t>
            </a:r>
            <a:endParaRPr lang="en-US" sz="1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/>
              <a:t>Helped identify 2021 as the inflation peak year.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/>
              <a:t>Automated % Difference logic simplified YoY inflation monitoring.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/>
              <a:t>Clear visualization enabled quick insights into economic trend shifts.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390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1653"/>
            <a:ext cx="7886700" cy="572601"/>
          </a:xfrm>
        </p:spPr>
        <p:txBody>
          <a:bodyPr/>
          <a:lstStyle/>
          <a:p>
            <a:r>
              <a:rPr dirty="0">
                <a:solidFill>
                  <a:srgbClr val="0D2B5F"/>
                </a:solidFill>
              </a:rPr>
              <a:t>Problem 2: Analysis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847" y="621079"/>
            <a:ext cx="8968153" cy="4891840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r>
              <a:rPr dirty="0" smtClean="0"/>
              <a:t> </a:t>
            </a:r>
            <a:r>
              <a:rPr lang="en-IN" sz="1800" dirty="0"/>
              <a:t>Business </a:t>
            </a:r>
            <a:r>
              <a:rPr lang="en-IN" sz="1800" dirty="0" smtClean="0"/>
              <a:t>Impact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536715"/>
              </p:ext>
            </p:extLst>
          </p:nvPr>
        </p:nvGraphicFramePr>
        <p:xfrm>
          <a:off x="252046" y="1200539"/>
          <a:ext cx="796876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190">
                  <a:extLst>
                    <a:ext uri="{9D8B030D-6E8A-4147-A177-3AD203B41FA5}">
                      <a16:colId xmlns:a16="http://schemas.microsoft.com/office/drawing/2014/main" val="4247853624"/>
                    </a:ext>
                  </a:extLst>
                </a:gridCol>
                <a:gridCol w="1992190">
                  <a:extLst>
                    <a:ext uri="{9D8B030D-6E8A-4147-A177-3AD203B41FA5}">
                      <a16:colId xmlns:a16="http://schemas.microsoft.com/office/drawing/2014/main" val="2071321403"/>
                    </a:ext>
                  </a:extLst>
                </a:gridCol>
                <a:gridCol w="1992190">
                  <a:extLst>
                    <a:ext uri="{9D8B030D-6E8A-4147-A177-3AD203B41FA5}">
                      <a16:colId xmlns:a16="http://schemas.microsoft.com/office/drawing/2014/main" val="3731652164"/>
                    </a:ext>
                  </a:extLst>
                </a:gridCol>
                <a:gridCol w="1992190">
                  <a:extLst>
                    <a:ext uri="{9D8B030D-6E8A-4147-A177-3AD203B41FA5}">
                      <a16:colId xmlns:a16="http://schemas.microsoft.com/office/drawing/2014/main" val="3570842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 YoY % Change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CPI Change (Points)*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Interpretation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923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2021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+26.33%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+26.33 points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Peak inflation post-pandemic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53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2022–2023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–57%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–57 points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Correction and stabilization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52152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52046" y="2578487"/>
            <a:ext cx="714008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Summary: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The inflation shock in </a:t>
            </a:r>
            <a:r>
              <a:rPr lang="en-US" sz="1400" b="1" dirty="0"/>
              <a:t>2021</a:t>
            </a:r>
            <a:r>
              <a:rPr lang="en-US" sz="1400" dirty="0"/>
              <a:t> and collapse in </a:t>
            </a:r>
            <a:r>
              <a:rPr lang="en-US" sz="1400" b="1" dirty="0"/>
              <a:t>2023</a:t>
            </a:r>
            <a:r>
              <a:rPr lang="en-US" sz="1400" dirty="0"/>
              <a:t> reflect structural disruptions and later stabilization.</a:t>
            </a:r>
            <a:br>
              <a:rPr lang="en-US" sz="1400" dirty="0"/>
            </a:br>
            <a:r>
              <a:rPr lang="en-US" sz="1400" dirty="0"/>
              <a:t>Tracking YoY shifts helps forecast future inflation risks.</a:t>
            </a:r>
          </a:p>
        </p:txBody>
      </p:sp>
    </p:spTree>
    <p:extLst>
      <p:ext uri="{BB962C8B-B14F-4D97-AF65-F5344CB8AC3E}">
        <p14:creationId xmlns:p14="http://schemas.microsoft.com/office/powerpoint/2010/main" val="2273874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888" y="149471"/>
            <a:ext cx="7886700" cy="562708"/>
          </a:xfrm>
        </p:spPr>
        <p:txBody>
          <a:bodyPr/>
          <a:lstStyle/>
          <a:p>
            <a:r>
              <a:rPr dirty="0">
                <a:solidFill>
                  <a:srgbClr val="0D2B5F"/>
                </a:solidFill>
              </a:rPr>
              <a:t>Problem </a:t>
            </a:r>
            <a:r>
              <a:rPr dirty="0" smtClean="0">
                <a:solidFill>
                  <a:srgbClr val="0D2B5F"/>
                </a:solidFill>
              </a:rPr>
              <a:t>3</a:t>
            </a:r>
            <a:r>
              <a:rPr lang="en-US" dirty="0" smtClean="0">
                <a:solidFill>
                  <a:srgbClr val="0D2B5F"/>
                </a:solidFill>
              </a:rPr>
              <a:t>.1</a:t>
            </a:r>
            <a:r>
              <a:rPr dirty="0" smtClean="0">
                <a:solidFill>
                  <a:srgbClr val="0D2B5F"/>
                </a:solidFill>
              </a:rPr>
              <a:t>: </a:t>
            </a:r>
            <a:r>
              <a:rPr dirty="0">
                <a:solidFill>
                  <a:srgbClr val="0D2B5F"/>
                </a:solidFill>
              </a:rPr>
              <a:t>Analysis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606669"/>
            <a:ext cx="8950570" cy="6128239"/>
          </a:xfrm>
        </p:spPr>
        <p:txBody>
          <a:bodyPr/>
          <a:lstStyle/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r>
              <a:rPr dirty="0" smtClean="0"/>
              <a:t>A</a:t>
            </a:r>
            <a:r>
              <a:rPr dirty="0"/>
              <a:t>. Background – what was the issue</a:t>
            </a:r>
            <a:r>
              <a:rPr dirty="0" smtClean="0"/>
              <a:t>?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 smtClean="0"/>
              <a:t>India’s retail inflation reached a 3-month high of </a:t>
            </a:r>
            <a:r>
              <a:rPr lang="en-US" sz="1200" b="1" dirty="0" smtClean="0"/>
              <a:t>5.55% in Nov 2023</a:t>
            </a:r>
            <a:r>
              <a:rPr lang="en-US" sz="1200" dirty="0" smtClean="0"/>
              <a:t>, primarily driven by a sharp increase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 smtClean="0"/>
              <a:t> in food prices.</a:t>
            </a:r>
            <a:br>
              <a:rPr lang="en-US" sz="1200" dirty="0" smtClean="0"/>
            </a:br>
            <a:r>
              <a:rPr lang="en-US" sz="1200" dirty="0" smtClean="0"/>
              <a:t>To understand the pattern, month-on-month (</a:t>
            </a:r>
            <a:r>
              <a:rPr lang="en-US" sz="1200" dirty="0" err="1" smtClean="0"/>
              <a:t>MoM</a:t>
            </a:r>
            <a:r>
              <a:rPr lang="en-US" sz="1200" dirty="0" smtClean="0"/>
              <a:t>) changes in </a:t>
            </a:r>
            <a:r>
              <a:rPr lang="en-US" sz="1200" b="1" dirty="0" smtClean="0"/>
              <a:t>Fruits,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 dirty="0" smtClean="0"/>
              <a:t>Vegetables, and Food &amp; Beverages</a:t>
            </a:r>
            <a:r>
              <a:rPr lang="en-US" sz="1200" dirty="0" smtClean="0"/>
              <a:t> were analyzed for a </a:t>
            </a:r>
            <a:r>
              <a:rPr lang="en-US" sz="1200" b="1" dirty="0" smtClean="0"/>
              <a:t>12-month period (Jun’22–May’23)</a:t>
            </a:r>
            <a:r>
              <a:rPr lang="en-US" sz="1200" dirty="0" smtClean="0"/>
              <a:t> to identify: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200" dirty="0" smtClean="0"/>
              <a:t>Months with the highest and lowest food inflation, and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200" dirty="0" smtClean="0"/>
              <a:t>Categories contributing most to inflation volatility</a:t>
            </a:r>
            <a:r>
              <a:rPr lang="en-US" dirty="0" smtClean="0"/>
              <a:t>.</a:t>
            </a: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B. Insight from data – pivot </a:t>
            </a:r>
            <a:r>
              <a:rPr dirty="0" smtClean="0"/>
              <a:t>table</a:t>
            </a:r>
            <a:endParaRPr lang="en-US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80264"/>
              </p:ext>
            </p:extLst>
          </p:nvPr>
        </p:nvGraphicFramePr>
        <p:xfrm>
          <a:off x="1522169" y="3047635"/>
          <a:ext cx="5625978" cy="3157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2" name="Worksheet" r:id="rId3" imgW="4429080" imgH="2486145" progId="Excel.Sheet.12">
                  <p:link updateAutomatic="1"/>
                </p:oleObj>
              </mc:Choice>
              <mc:Fallback>
                <p:oleObj name="Worksheet" r:id="rId3" imgW="4429080" imgH="248614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2169" y="3047635"/>
                        <a:ext cx="5625978" cy="31578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888" y="149471"/>
            <a:ext cx="7886700" cy="562708"/>
          </a:xfrm>
        </p:spPr>
        <p:txBody>
          <a:bodyPr/>
          <a:lstStyle/>
          <a:p>
            <a:r>
              <a:rPr dirty="0">
                <a:solidFill>
                  <a:srgbClr val="0D2B5F"/>
                </a:solidFill>
              </a:rPr>
              <a:t>Problem </a:t>
            </a:r>
            <a:r>
              <a:rPr dirty="0" smtClean="0">
                <a:solidFill>
                  <a:srgbClr val="0D2B5F"/>
                </a:solidFill>
              </a:rPr>
              <a:t>3</a:t>
            </a:r>
            <a:r>
              <a:rPr lang="en-US" dirty="0" smtClean="0">
                <a:solidFill>
                  <a:srgbClr val="0D2B5F"/>
                </a:solidFill>
              </a:rPr>
              <a:t>.1</a:t>
            </a:r>
            <a:r>
              <a:rPr dirty="0" smtClean="0">
                <a:solidFill>
                  <a:srgbClr val="0D2B5F"/>
                </a:solidFill>
              </a:rPr>
              <a:t>: </a:t>
            </a:r>
            <a:r>
              <a:rPr dirty="0">
                <a:solidFill>
                  <a:srgbClr val="0D2B5F"/>
                </a:solidFill>
              </a:rPr>
              <a:t>Analysis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606669"/>
            <a:ext cx="8950570" cy="6128239"/>
          </a:xfrm>
        </p:spPr>
        <p:txBody>
          <a:bodyPr/>
          <a:lstStyle/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r>
              <a:rPr dirty="0" smtClean="0"/>
              <a:t>B</a:t>
            </a:r>
            <a:r>
              <a:rPr dirty="0"/>
              <a:t>. Insight from data </a:t>
            </a:r>
            <a:r>
              <a:rPr dirty="0" smtClean="0"/>
              <a:t>chart</a:t>
            </a:r>
            <a:endParaRPr lang="en-US" dirty="0" smtClean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lang="en-US" sz="1200" b="1" dirty="0"/>
              <a:t>Visualization Used:</a:t>
            </a:r>
            <a:r>
              <a:rPr lang="en-US" sz="1200" dirty="0"/>
              <a:t> Line chart showing </a:t>
            </a:r>
            <a:r>
              <a:rPr lang="en-US" sz="1200" dirty="0" err="1"/>
              <a:t>MoM</a:t>
            </a:r>
            <a:r>
              <a:rPr lang="en-US" sz="1200" dirty="0"/>
              <a:t> % change in </a:t>
            </a:r>
            <a:r>
              <a:rPr lang="en-US" sz="1200" b="1" dirty="0"/>
              <a:t>Fruits</a:t>
            </a:r>
            <a:r>
              <a:rPr lang="en-US" sz="1200" dirty="0"/>
              <a:t>, </a:t>
            </a:r>
            <a:r>
              <a:rPr lang="en-US" sz="1200" b="1" dirty="0"/>
              <a:t>Vegetables</a:t>
            </a:r>
            <a:r>
              <a:rPr lang="en-US" sz="1200" dirty="0"/>
              <a:t>, and </a:t>
            </a:r>
            <a:r>
              <a:rPr lang="en-US" sz="1200" b="1" dirty="0"/>
              <a:t>Food &amp; Beverages</a:t>
            </a:r>
            <a:r>
              <a:rPr lang="en-US" sz="1200" dirty="0"/>
              <a:t> </a:t>
            </a:r>
            <a:endParaRPr lang="en-US" sz="1200" dirty="0" smtClean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lang="en-US" sz="1200" dirty="0" smtClean="0"/>
              <a:t>from </a:t>
            </a:r>
            <a:r>
              <a:rPr lang="en-US" sz="1200" dirty="0"/>
              <a:t>Jun’22 to May’23</a:t>
            </a:r>
            <a:r>
              <a:rPr lang="en-US" sz="1800" dirty="0" smtClean="0"/>
              <a:t>.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6822831" y="18731"/>
            <a:ext cx="2198077" cy="2031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smtClean="0"/>
              <a:t>Key Observations</a:t>
            </a:r>
            <a:r>
              <a:rPr lang="en-US" sz="1100" b="1" dirty="0"/>
              <a:t>:</a:t>
            </a:r>
            <a:endParaRPr lang="en-US" sz="11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100" dirty="0"/>
              <a:t>The </a:t>
            </a:r>
            <a:r>
              <a:rPr lang="en-US" sz="1100" b="1" dirty="0"/>
              <a:t>sharpest rise</a:t>
            </a:r>
            <a:r>
              <a:rPr lang="en-US" sz="1100" dirty="0"/>
              <a:t> occurred in </a:t>
            </a:r>
            <a:r>
              <a:rPr lang="en-US" sz="1100" b="1" dirty="0"/>
              <a:t>Feb’23 (+7.09%)</a:t>
            </a:r>
            <a:r>
              <a:rPr lang="en-US" sz="1100" dirty="0"/>
              <a:t>, mainly due to a surge in fruit prices.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100" dirty="0"/>
              <a:t>The </a:t>
            </a:r>
            <a:r>
              <a:rPr lang="en-US" sz="1100" b="1" dirty="0"/>
              <a:t>steepest fall</a:t>
            </a:r>
            <a:r>
              <a:rPr lang="en-US" sz="1100" dirty="0"/>
              <a:t> was in </a:t>
            </a:r>
            <a:r>
              <a:rPr lang="en-US" sz="1100" b="1" dirty="0"/>
              <a:t>Dec’22 (–12.75%)</a:t>
            </a:r>
            <a:r>
              <a:rPr lang="en-US" sz="1100" dirty="0"/>
              <a:t>, driven by a collapse in vegetable prices.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100" dirty="0"/>
              <a:t>Fruits and Vegetables were the </a:t>
            </a:r>
            <a:r>
              <a:rPr lang="en-US" sz="1100" b="1" dirty="0"/>
              <a:t>most volatile</a:t>
            </a:r>
            <a:r>
              <a:rPr lang="en-US" sz="1100" dirty="0"/>
              <a:t> categories influencing the overall Food &amp; Beverages index</a:t>
            </a:r>
            <a:endParaRPr lang="en-IN" sz="11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519869"/>
              </p:ext>
            </p:extLst>
          </p:nvPr>
        </p:nvGraphicFramePr>
        <p:xfrm>
          <a:off x="69850" y="2181225"/>
          <a:ext cx="8950325" cy="455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6" name="Worksheet" r:id="rId3" imgW="11306160" imgH="5438802" progId="Excel.Sheet.12">
                  <p:link updateAutomatic="1"/>
                </p:oleObj>
              </mc:Choice>
              <mc:Fallback>
                <p:oleObj name="Worksheet" r:id="rId3" imgW="11306160" imgH="5438802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850" y="2181225"/>
                        <a:ext cx="8950325" cy="4554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656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888" y="149471"/>
            <a:ext cx="7886700" cy="562708"/>
          </a:xfrm>
        </p:spPr>
        <p:txBody>
          <a:bodyPr/>
          <a:lstStyle/>
          <a:p>
            <a:r>
              <a:rPr dirty="0">
                <a:solidFill>
                  <a:srgbClr val="0D2B5F"/>
                </a:solidFill>
              </a:rPr>
              <a:t>Problem </a:t>
            </a:r>
            <a:r>
              <a:rPr dirty="0" smtClean="0">
                <a:solidFill>
                  <a:srgbClr val="0D2B5F"/>
                </a:solidFill>
              </a:rPr>
              <a:t>3</a:t>
            </a:r>
            <a:r>
              <a:rPr lang="en-US" dirty="0" smtClean="0">
                <a:solidFill>
                  <a:srgbClr val="0D2B5F"/>
                </a:solidFill>
              </a:rPr>
              <a:t>.1</a:t>
            </a:r>
            <a:r>
              <a:rPr dirty="0" smtClean="0">
                <a:solidFill>
                  <a:srgbClr val="0D2B5F"/>
                </a:solidFill>
              </a:rPr>
              <a:t>: </a:t>
            </a:r>
            <a:r>
              <a:rPr dirty="0">
                <a:solidFill>
                  <a:srgbClr val="0D2B5F"/>
                </a:solidFill>
              </a:rPr>
              <a:t>Analysis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715" y="752966"/>
            <a:ext cx="8959361" cy="4416911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r>
              <a:rPr dirty="0" smtClean="0"/>
              <a:t>C</a:t>
            </a:r>
            <a:r>
              <a:rPr dirty="0"/>
              <a:t>. Solution / Action – formula, automation, BI </a:t>
            </a:r>
            <a:r>
              <a:rPr dirty="0" smtClean="0"/>
              <a:t>logic</a:t>
            </a:r>
            <a:endParaRPr lang="en-US" dirty="0" smtClean="0"/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Calculated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Month-on-Month % Difference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using Excel’s</a:t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Show Values As → % Difference From → (Base Item: Previous Month)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option to automate comparison.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Added a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Pivot Table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with: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Rows: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Food Categories (Fruits, Vegetables, Food &amp; Beverages)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Values: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Index of all months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Show Values As: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% Difference From (Previous Month or Base Month)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conditional formatting and data labels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highlight months with maximum and minimum inflation.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Created an additional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bar chart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showing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absolute change (Jun’22–May’23)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by category to quantify contribution.</a:t>
            </a:r>
            <a:endParaRPr sz="2000"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D. Result / Business Impact – show Before vs After </a:t>
            </a:r>
            <a:r>
              <a:rPr dirty="0" smtClean="0"/>
              <a:t>table</a:t>
            </a:r>
            <a:endParaRPr lang="en-US" dirty="0" smtClean="0"/>
          </a:p>
          <a:p>
            <a:pPr>
              <a:defRPr sz="1800">
                <a:solidFill>
                  <a:srgbClr val="333333"/>
                </a:solidFill>
              </a:defRPr>
            </a:pPr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606013"/>
              </p:ext>
            </p:extLst>
          </p:nvPr>
        </p:nvGraphicFramePr>
        <p:xfrm>
          <a:off x="556846" y="3067538"/>
          <a:ext cx="7558455" cy="1869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691">
                  <a:extLst>
                    <a:ext uri="{9D8B030D-6E8A-4147-A177-3AD203B41FA5}">
                      <a16:colId xmlns:a16="http://schemas.microsoft.com/office/drawing/2014/main" val="95736207"/>
                    </a:ext>
                  </a:extLst>
                </a:gridCol>
                <a:gridCol w="1511691">
                  <a:extLst>
                    <a:ext uri="{9D8B030D-6E8A-4147-A177-3AD203B41FA5}">
                      <a16:colId xmlns:a16="http://schemas.microsoft.com/office/drawing/2014/main" val="2497841615"/>
                    </a:ext>
                  </a:extLst>
                </a:gridCol>
                <a:gridCol w="1511691">
                  <a:extLst>
                    <a:ext uri="{9D8B030D-6E8A-4147-A177-3AD203B41FA5}">
                      <a16:colId xmlns:a16="http://schemas.microsoft.com/office/drawing/2014/main" val="626211805"/>
                    </a:ext>
                  </a:extLst>
                </a:gridCol>
                <a:gridCol w="1511691">
                  <a:extLst>
                    <a:ext uri="{9D8B030D-6E8A-4147-A177-3AD203B41FA5}">
                      <a16:colId xmlns:a16="http://schemas.microsoft.com/office/drawing/2014/main" val="66511109"/>
                    </a:ext>
                  </a:extLst>
                </a:gridCol>
                <a:gridCol w="1511691">
                  <a:extLst>
                    <a:ext uri="{9D8B030D-6E8A-4147-A177-3AD203B41FA5}">
                      <a16:colId xmlns:a16="http://schemas.microsoft.com/office/drawing/2014/main" val="8802385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Highest </a:t>
                      </a:r>
                      <a:r>
                        <a:rPr lang="en-IN" sz="1400" dirty="0" err="1" smtClean="0"/>
                        <a:t>MoM</a:t>
                      </a:r>
                      <a:r>
                        <a:rPr lang="en-IN" sz="1400" dirty="0" smtClean="0"/>
                        <a:t> Change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Lowest </a:t>
                      </a:r>
                      <a:r>
                        <a:rPr lang="en-IN" sz="1400" dirty="0" err="1" smtClean="0"/>
                        <a:t>MoM</a:t>
                      </a:r>
                      <a:r>
                        <a:rPr lang="en-IN" sz="1400" dirty="0" smtClean="0"/>
                        <a:t> Change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Absolute Change (Jun’22–May’23)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Key Insight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46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Fruits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+7.09% (Feb’23)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–2.31% (May’23)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+4.40%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Major driver of Feb’23 spike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528645"/>
                  </a:ext>
                </a:extLst>
              </a:tr>
              <a:tr h="437271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Vegetables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+4.00% (Oct’22)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–12.75% (Dec’22)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–8.75%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Highest volatility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64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Food &amp; Beverages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+0.97% (Oct’22)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–3.42% (Jan’23)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–2.45%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Overall moderate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442745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63768" y="5229931"/>
            <a:ext cx="807133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/>
              <a:t>Conclusion:</a:t>
            </a:r>
            <a:endParaRPr lang="en-US" sz="1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/>
              <a:t>Automated </a:t>
            </a:r>
            <a:r>
              <a:rPr lang="en-US" sz="1400" dirty="0" err="1" smtClean="0"/>
              <a:t>MoM</a:t>
            </a:r>
            <a:r>
              <a:rPr lang="en-US" sz="1400" dirty="0" smtClean="0"/>
              <a:t> % difference analysis enabled quick detection of inflation spikes and dips.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/>
              <a:t>Identified </a:t>
            </a:r>
            <a:r>
              <a:rPr lang="en-US" sz="1400" b="1" dirty="0" smtClean="0"/>
              <a:t>Feb’23</a:t>
            </a:r>
            <a:r>
              <a:rPr lang="en-US" sz="1400" dirty="0" smtClean="0"/>
              <a:t> as the month with the sharpest increase and </a:t>
            </a:r>
            <a:r>
              <a:rPr lang="en-US" sz="1400" b="1" dirty="0" smtClean="0"/>
              <a:t>Dec’22</a:t>
            </a:r>
            <a:r>
              <a:rPr lang="en-US" sz="1400" dirty="0" smtClean="0"/>
              <a:t> as the biggest decline.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/>
              <a:t>Insights help policymakers and analysts track category-level drivers of food inflation more effectively.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5006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888" y="149471"/>
            <a:ext cx="7886700" cy="562708"/>
          </a:xfrm>
        </p:spPr>
        <p:txBody>
          <a:bodyPr/>
          <a:lstStyle/>
          <a:p>
            <a:r>
              <a:rPr dirty="0">
                <a:solidFill>
                  <a:srgbClr val="0D2B5F"/>
                </a:solidFill>
              </a:rPr>
              <a:t>Problem </a:t>
            </a:r>
            <a:r>
              <a:rPr dirty="0" smtClean="0">
                <a:solidFill>
                  <a:srgbClr val="0D2B5F"/>
                </a:solidFill>
              </a:rPr>
              <a:t>3</a:t>
            </a:r>
            <a:r>
              <a:rPr lang="en-US" dirty="0" smtClean="0">
                <a:solidFill>
                  <a:srgbClr val="0D2B5F"/>
                </a:solidFill>
              </a:rPr>
              <a:t>.1</a:t>
            </a:r>
            <a:r>
              <a:rPr dirty="0" smtClean="0">
                <a:solidFill>
                  <a:srgbClr val="0D2B5F"/>
                </a:solidFill>
              </a:rPr>
              <a:t>: </a:t>
            </a:r>
            <a:r>
              <a:rPr dirty="0">
                <a:solidFill>
                  <a:srgbClr val="0D2B5F"/>
                </a:solidFill>
              </a:rPr>
              <a:t>Analysis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715" y="752966"/>
            <a:ext cx="8959361" cy="4416911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r>
              <a:rPr dirty="0" smtClean="0"/>
              <a:t>Business Impact</a:t>
            </a:r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795318"/>
              </p:ext>
            </p:extLst>
          </p:nvPr>
        </p:nvGraphicFramePr>
        <p:xfrm>
          <a:off x="263768" y="1432169"/>
          <a:ext cx="8664820" cy="1178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6205">
                  <a:extLst>
                    <a:ext uri="{9D8B030D-6E8A-4147-A177-3AD203B41FA5}">
                      <a16:colId xmlns:a16="http://schemas.microsoft.com/office/drawing/2014/main" val="95736207"/>
                    </a:ext>
                  </a:extLst>
                </a:gridCol>
                <a:gridCol w="2166205">
                  <a:extLst>
                    <a:ext uri="{9D8B030D-6E8A-4147-A177-3AD203B41FA5}">
                      <a16:colId xmlns:a16="http://schemas.microsoft.com/office/drawing/2014/main" val="2497841615"/>
                    </a:ext>
                  </a:extLst>
                </a:gridCol>
                <a:gridCol w="2166205">
                  <a:extLst>
                    <a:ext uri="{9D8B030D-6E8A-4147-A177-3AD203B41FA5}">
                      <a16:colId xmlns:a16="http://schemas.microsoft.com/office/drawing/2014/main" val="66511109"/>
                    </a:ext>
                  </a:extLst>
                </a:gridCol>
                <a:gridCol w="2166205">
                  <a:extLst>
                    <a:ext uri="{9D8B030D-6E8A-4147-A177-3AD203B41FA5}">
                      <a16:colId xmlns:a16="http://schemas.microsoft.com/office/drawing/2014/main" val="8802385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Month</a:t>
                      </a:r>
                      <a:r>
                        <a:rPr lang="en-US" sz="1400" baseline="0" dirty="0" smtClean="0"/>
                        <a:t> 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 err="1" smtClean="0"/>
                        <a:t>MoM</a:t>
                      </a:r>
                      <a:r>
                        <a:rPr lang="en-IN" sz="1400" dirty="0" smtClean="0"/>
                        <a:t> % Change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CPI Impact (Points)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Key Insight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46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Feb 2023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+7.09%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+7.09 points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Major driver of Feb’23 spike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528645"/>
                  </a:ext>
                </a:extLst>
              </a:tr>
              <a:tr h="437271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Dec 2022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-12.75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12.75 points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Highest volatility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6483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63768" y="2974568"/>
            <a:ext cx="80713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Summary: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The two months account for the </a:t>
            </a:r>
            <a:r>
              <a:rPr lang="en-US" sz="1400" b="1" dirty="0"/>
              <a:t>largest volatility swings</a:t>
            </a:r>
            <a:r>
              <a:rPr lang="en-US" sz="1400" dirty="0"/>
              <a:t>, directly influencing food inflation trends</a:t>
            </a:r>
            <a:r>
              <a:rPr lang="en-US" sz="1400" dirty="0" smtClean="0"/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1673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888" y="149471"/>
            <a:ext cx="7886700" cy="562708"/>
          </a:xfrm>
        </p:spPr>
        <p:txBody>
          <a:bodyPr/>
          <a:lstStyle/>
          <a:p>
            <a:r>
              <a:rPr dirty="0">
                <a:solidFill>
                  <a:srgbClr val="0D2B5F"/>
                </a:solidFill>
              </a:rPr>
              <a:t>Problem </a:t>
            </a:r>
            <a:r>
              <a:rPr dirty="0" smtClean="0">
                <a:solidFill>
                  <a:srgbClr val="0D2B5F"/>
                </a:solidFill>
              </a:rPr>
              <a:t>3</a:t>
            </a:r>
            <a:r>
              <a:rPr lang="en-US" dirty="0" smtClean="0">
                <a:solidFill>
                  <a:srgbClr val="0D2B5F"/>
                </a:solidFill>
              </a:rPr>
              <a:t>.2</a:t>
            </a:r>
            <a:r>
              <a:rPr dirty="0" smtClean="0">
                <a:solidFill>
                  <a:srgbClr val="0D2B5F"/>
                </a:solidFill>
              </a:rPr>
              <a:t>: </a:t>
            </a:r>
            <a:r>
              <a:rPr dirty="0">
                <a:solidFill>
                  <a:srgbClr val="0D2B5F"/>
                </a:solidFill>
              </a:rPr>
              <a:t>Analysis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606669"/>
            <a:ext cx="8950570" cy="6128239"/>
          </a:xfrm>
        </p:spPr>
        <p:txBody>
          <a:bodyPr/>
          <a:lstStyle/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r>
              <a:rPr dirty="0" smtClean="0"/>
              <a:t>A</a:t>
            </a:r>
            <a:r>
              <a:rPr dirty="0"/>
              <a:t>. Background – what was the issue</a:t>
            </a:r>
            <a:r>
              <a:rPr dirty="0" smtClean="0"/>
              <a:t>?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 smtClean="0"/>
              <a:t>India’s food inflation remained unstable during 2022–23, with noticeable month-on-month fluctuations in the Food &amp; Beverages category. The objective was to analyze these changes using CPI data to determine which months recorded the highest and lowest inflation and understand the volatility </a:t>
            </a:r>
            <a:r>
              <a:rPr lang="en-US" sz="1200" dirty="0" err="1" smtClean="0"/>
              <a:t>pattern.</a:t>
            </a:r>
            <a:r>
              <a:rPr lang="en-US" sz="1200" b="1" dirty="0" err="1" smtClean="0"/>
              <a:t>Vegetables</a:t>
            </a:r>
            <a:r>
              <a:rPr lang="en-US" sz="1200" b="1" dirty="0" smtClean="0"/>
              <a:t>, and Food &amp; Beverages</a:t>
            </a:r>
            <a:r>
              <a:rPr lang="en-US" sz="1200" dirty="0" smtClean="0"/>
              <a:t> were analyzed for a </a:t>
            </a:r>
            <a:r>
              <a:rPr lang="en-US" sz="1200" b="1" dirty="0" smtClean="0"/>
              <a:t>12-month period (Jun’22–May’23)</a:t>
            </a:r>
            <a:r>
              <a:rPr lang="en-US" sz="1200" dirty="0" smtClean="0"/>
              <a:t> to identify: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200" dirty="0" smtClean="0"/>
              <a:t>Categories contributing most to inflation volatility</a:t>
            </a:r>
            <a:r>
              <a:rPr lang="en-US" dirty="0" smtClean="0"/>
              <a:t>.</a:t>
            </a: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B. Insight from data – pivot </a:t>
            </a:r>
            <a:r>
              <a:rPr dirty="0" smtClean="0"/>
              <a:t>table</a:t>
            </a:r>
            <a:r>
              <a:rPr lang="en-US" sz="1200" dirty="0" smtClean="0"/>
              <a:t>.</a:t>
            </a:r>
            <a:endParaRPr sz="12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938748"/>
              </p:ext>
            </p:extLst>
          </p:nvPr>
        </p:nvGraphicFramePr>
        <p:xfrm>
          <a:off x="3136655" y="2634396"/>
          <a:ext cx="3290521" cy="3868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" name="Worksheet" r:id="rId3" imgW="2114640" imgH="2486145" progId="Excel.Sheet.12">
                  <p:link updateAutomatic="1"/>
                </p:oleObj>
              </mc:Choice>
              <mc:Fallback>
                <p:oleObj name="Worksheet" r:id="rId3" imgW="2114640" imgH="248614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36655" y="2634396"/>
                        <a:ext cx="3290521" cy="38685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438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888" y="149471"/>
            <a:ext cx="7886700" cy="562708"/>
          </a:xfrm>
        </p:spPr>
        <p:txBody>
          <a:bodyPr/>
          <a:lstStyle/>
          <a:p>
            <a:r>
              <a:rPr dirty="0">
                <a:solidFill>
                  <a:srgbClr val="0D2B5F"/>
                </a:solidFill>
              </a:rPr>
              <a:t>Problem </a:t>
            </a:r>
            <a:r>
              <a:rPr dirty="0" smtClean="0">
                <a:solidFill>
                  <a:srgbClr val="0D2B5F"/>
                </a:solidFill>
              </a:rPr>
              <a:t>3</a:t>
            </a:r>
            <a:r>
              <a:rPr lang="en-US" dirty="0" smtClean="0">
                <a:solidFill>
                  <a:srgbClr val="0D2B5F"/>
                </a:solidFill>
              </a:rPr>
              <a:t>.2</a:t>
            </a:r>
            <a:r>
              <a:rPr dirty="0" smtClean="0">
                <a:solidFill>
                  <a:srgbClr val="0D2B5F"/>
                </a:solidFill>
              </a:rPr>
              <a:t>: </a:t>
            </a:r>
            <a:r>
              <a:rPr dirty="0">
                <a:solidFill>
                  <a:srgbClr val="0D2B5F"/>
                </a:solidFill>
              </a:rPr>
              <a:t>Analysis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606669"/>
            <a:ext cx="8950570" cy="6128239"/>
          </a:xfrm>
        </p:spPr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dirty="0" smtClean="0"/>
              <a:t>B</a:t>
            </a:r>
            <a:r>
              <a:rPr dirty="0"/>
              <a:t>. Insight from data </a:t>
            </a:r>
            <a:r>
              <a:rPr dirty="0" smtClean="0"/>
              <a:t>chart</a:t>
            </a:r>
            <a:endParaRPr lang="en-US" dirty="0" smtClean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lang="en-US" sz="1200" b="1" dirty="0"/>
              <a:t>Visualization Used:</a:t>
            </a:r>
            <a:r>
              <a:rPr lang="en-US" sz="1200" dirty="0"/>
              <a:t> A </a:t>
            </a:r>
            <a:r>
              <a:rPr lang="en-US" sz="1200" b="1" dirty="0"/>
              <a:t>Pivot Table</a:t>
            </a:r>
            <a:r>
              <a:rPr lang="en-US" sz="1200" dirty="0"/>
              <a:t> was created to summarize month-on-month (</a:t>
            </a:r>
            <a:r>
              <a:rPr lang="en-US" sz="1200" dirty="0" err="1"/>
              <a:t>MoM</a:t>
            </a:r>
            <a:r>
              <a:rPr lang="en-US" sz="1200" dirty="0"/>
              <a:t>) % changes in the Food &amp; Beverages Index.</a:t>
            </a:r>
            <a:endParaRPr sz="1200" dirty="0"/>
          </a:p>
        </p:txBody>
      </p:sp>
      <p:sp>
        <p:nvSpPr>
          <p:cNvPr id="6" name="Rectangle 5"/>
          <p:cNvSpPr/>
          <p:nvPr/>
        </p:nvSpPr>
        <p:spPr>
          <a:xfrm>
            <a:off x="700088" y="4794852"/>
            <a:ext cx="3585733" cy="14109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The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highest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</a:rPr>
              <a:t>MoM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increase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occurred in </a:t>
            </a:r>
            <a:r>
              <a:rPr kumimoji="0" lang="en-US" altLang="en-US" sz="120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May’23 (+1.03%).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The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sharpest fall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was seen in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Dec’22 (–0.65%)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The trend reveals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high seasonal volatility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, especially around year-end months due to changing supply conditions and weather-driven food price shifts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007328"/>
              </p:ext>
            </p:extLst>
          </p:nvPr>
        </p:nvGraphicFramePr>
        <p:xfrm>
          <a:off x="70338" y="1408113"/>
          <a:ext cx="8859350" cy="545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2" name="Worksheet" r:id="rId3" imgW="10315800" imgH="4352912" progId="Excel.Sheet.12">
                  <p:link updateAutomatic="1"/>
                </p:oleObj>
              </mc:Choice>
              <mc:Fallback>
                <p:oleObj name="Worksheet" r:id="rId3" imgW="10315800" imgH="4352912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338" y="1408113"/>
                        <a:ext cx="8859350" cy="5453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4947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888" y="149471"/>
            <a:ext cx="7886700" cy="562708"/>
          </a:xfrm>
        </p:spPr>
        <p:txBody>
          <a:bodyPr/>
          <a:lstStyle/>
          <a:p>
            <a:r>
              <a:rPr dirty="0">
                <a:solidFill>
                  <a:srgbClr val="0D2B5F"/>
                </a:solidFill>
              </a:rPr>
              <a:t>Problem </a:t>
            </a:r>
            <a:r>
              <a:rPr dirty="0" smtClean="0">
                <a:solidFill>
                  <a:srgbClr val="0D2B5F"/>
                </a:solidFill>
              </a:rPr>
              <a:t>3</a:t>
            </a:r>
            <a:r>
              <a:rPr lang="en-US" dirty="0" smtClean="0">
                <a:solidFill>
                  <a:srgbClr val="0D2B5F"/>
                </a:solidFill>
              </a:rPr>
              <a:t>.2</a:t>
            </a:r>
            <a:r>
              <a:rPr dirty="0" smtClean="0">
                <a:solidFill>
                  <a:srgbClr val="0D2B5F"/>
                </a:solidFill>
              </a:rPr>
              <a:t>: </a:t>
            </a:r>
            <a:r>
              <a:rPr dirty="0">
                <a:solidFill>
                  <a:srgbClr val="0D2B5F"/>
                </a:solidFill>
              </a:rPr>
              <a:t>Analysis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715" y="752966"/>
            <a:ext cx="8959361" cy="4416911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r>
              <a:rPr dirty="0" smtClean="0"/>
              <a:t>C</a:t>
            </a:r>
            <a:r>
              <a:rPr dirty="0"/>
              <a:t>. Solution / Action – formula, automation, BI </a:t>
            </a:r>
            <a:r>
              <a:rPr dirty="0" smtClean="0"/>
              <a:t>logic</a:t>
            </a:r>
            <a:endParaRPr lang="en-US" dirty="0" smtClean="0"/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Calculated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MoM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% Difference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using Excel’s</a:t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Show Values As → % Difference From → (Base Item: Previous Month)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option.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conditional formatting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 the chart: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Blue bars → Positive inflation months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Red bars → Negative inflation months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Added automated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data labels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insight annotation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highlight the peak (May’23) and trough (Dec’22).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Designed the Pivot to refresh automatically as new CPI data is added</a:t>
            </a:r>
            <a:endParaRPr sz="1200"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sz="1800" dirty="0"/>
              <a:t>D. Result / Business Impact – show Before vs After </a:t>
            </a:r>
            <a:r>
              <a:rPr sz="1800" dirty="0" smtClean="0"/>
              <a:t>table</a:t>
            </a:r>
            <a:endParaRPr lang="en-US" sz="18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110999"/>
              </p:ext>
            </p:extLst>
          </p:nvPr>
        </p:nvGraphicFramePr>
        <p:xfrm>
          <a:off x="556846" y="3067538"/>
          <a:ext cx="6899031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677">
                  <a:extLst>
                    <a:ext uri="{9D8B030D-6E8A-4147-A177-3AD203B41FA5}">
                      <a16:colId xmlns:a16="http://schemas.microsoft.com/office/drawing/2014/main" val="95736207"/>
                    </a:ext>
                  </a:extLst>
                </a:gridCol>
                <a:gridCol w="2299677">
                  <a:extLst>
                    <a:ext uri="{9D8B030D-6E8A-4147-A177-3AD203B41FA5}">
                      <a16:colId xmlns:a16="http://schemas.microsoft.com/office/drawing/2014/main" val="2497841615"/>
                    </a:ext>
                  </a:extLst>
                </a:gridCol>
                <a:gridCol w="2299677">
                  <a:extLst>
                    <a:ext uri="{9D8B030D-6E8A-4147-A177-3AD203B41FA5}">
                      <a16:colId xmlns:a16="http://schemas.microsoft.com/office/drawing/2014/main" val="626211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Month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 err="1" smtClean="0"/>
                        <a:t>MoM</a:t>
                      </a:r>
                      <a:r>
                        <a:rPr lang="en-IN" sz="1400" dirty="0" smtClean="0"/>
                        <a:t> % Change (Food &amp; Beverages)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Observation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46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Dec’22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–0.65%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Lowest </a:t>
                      </a:r>
                      <a:r>
                        <a:rPr lang="en-US" sz="1200" dirty="0" err="1" smtClean="0"/>
                        <a:t>MoM</a:t>
                      </a:r>
                      <a:r>
                        <a:rPr lang="en-US" sz="1200" dirty="0" smtClean="0"/>
                        <a:t> inflation – seasonal fall in vegetables/fruits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528645"/>
                  </a:ext>
                </a:extLst>
              </a:tr>
              <a:tr h="437271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May’23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+1.03%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Highest </a:t>
                      </a:r>
                      <a:r>
                        <a:rPr lang="en-US" sz="1200" dirty="0" err="1" smtClean="0"/>
                        <a:t>MoM</a:t>
                      </a:r>
                      <a:r>
                        <a:rPr lang="en-US" sz="1200" dirty="0" smtClean="0"/>
                        <a:t> inflation – recovery in food prices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64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Overall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Mixed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Indicates cyclical and seasonal price behavior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42745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63768" y="5229931"/>
            <a:ext cx="807133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/>
              <a:t>Conclusion:</a:t>
            </a:r>
            <a:endParaRPr lang="en-US" sz="1400" dirty="0" smtClean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Automated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MoM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tracking provided a clear understanding of short-term food price volatility.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Helped identify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seasonal inflation cycles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supporting better forecasting and inventory decisions in the food sector.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Highlighted the importance of monitoring category-level shifts within the CPI basket for policy or business planning.</a:t>
            </a:r>
          </a:p>
        </p:txBody>
      </p:sp>
    </p:spTree>
    <p:extLst>
      <p:ext uri="{BB962C8B-B14F-4D97-AF65-F5344CB8AC3E}">
        <p14:creationId xmlns:p14="http://schemas.microsoft.com/office/powerpoint/2010/main" val="1310295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888" y="149471"/>
            <a:ext cx="7886700" cy="562708"/>
          </a:xfrm>
        </p:spPr>
        <p:txBody>
          <a:bodyPr/>
          <a:lstStyle/>
          <a:p>
            <a:r>
              <a:rPr dirty="0">
                <a:solidFill>
                  <a:srgbClr val="0D2B5F"/>
                </a:solidFill>
              </a:rPr>
              <a:t>Problem </a:t>
            </a:r>
            <a:r>
              <a:rPr dirty="0" smtClean="0">
                <a:solidFill>
                  <a:srgbClr val="0D2B5F"/>
                </a:solidFill>
              </a:rPr>
              <a:t>3</a:t>
            </a:r>
            <a:r>
              <a:rPr lang="en-US" dirty="0" smtClean="0">
                <a:solidFill>
                  <a:srgbClr val="0D2B5F"/>
                </a:solidFill>
              </a:rPr>
              <a:t>.2</a:t>
            </a:r>
            <a:r>
              <a:rPr dirty="0" smtClean="0">
                <a:solidFill>
                  <a:srgbClr val="0D2B5F"/>
                </a:solidFill>
              </a:rPr>
              <a:t>: </a:t>
            </a:r>
            <a:r>
              <a:rPr dirty="0">
                <a:solidFill>
                  <a:srgbClr val="0D2B5F"/>
                </a:solidFill>
              </a:rPr>
              <a:t>Analysis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715" y="752966"/>
            <a:ext cx="8959361" cy="4416911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r>
              <a:rPr sz="1800" dirty="0" smtClean="0"/>
              <a:t>Business Impact</a:t>
            </a:r>
            <a:r>
              <a:rPr lang="en-US" sz="1800" dirty="0" smtClean="0"/>
              <a:t>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581361"/>
              </p:ext>
            </p:extLst>
          </p:nvPr>
        </p:nvGraphicFramePr>
        <p:xfrm>
          <a:off x="556846" y="1300284"/>
          <a:ext cx="6899032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4758">
                  <a:extLst>
                    <a:ext uri="{9D8B030D-6E8A-4147-A177-3AD203B41FA5}">
                      <a16:colId xmlns:a16="http://schemas.microsoft.com/office/drawing/2014/main" val="95736207"/>
                    </a:ext>
                  </a:extLst>
                </a:gridCol>
                <a:gridCol w="1724758">
                  <a:extLst>
                    <a:ext uri="{9D8B030D-6E8A-4147-A177-3AD203B41FA5}">
                      <a16:colId xmlns:a16="http://schemas.microsoft.com/office/drawing/2014/main" val="2497841615"/>
                    </a:ext>
                  </a:extLst>
                </a:gridCol>
                <a:gridCol w="1724758">
                  <a:extLst>
                    <a:ext uri="{9D8B030D-6E8A-4147-A177-3AD203B41FA5}">
                      <a16:colId xmlns:a16="http://schemas.microsoft.com/office/drawing/2014/main" val="3631554545"/>
                    </a:ext>
                  </a:extLst>
                </a:gridCol>
                <a:gridCol w="1724758">
                  <a:extLst>
                    <a:ext uri="{9D8B030D-6E8A-4147-A177-3AD203B41FA5}">
                      <a16:colId xmlns:a16="http://schemas.microsoft.com/office/drawing/2014/main" val="626211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Month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 err="1" smtClean="0"/>
                        <a:t>MoM</a:t>
                      </a:r>
                      <a:r>
                        <a:rPr lang="en-IN" sz="1400" dirty="0" smtClean="0"/>
                        <a:t> % Change (Food &amp; Beverages)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CPI Impact (Points)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Observation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46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May’23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+1.03%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+1.03 points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Mild inflation build-up.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53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Dec’22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–0.65%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–0.65 points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Seasonal cooling trend from high supply.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52864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51691" y="2961421"/>
            <a:ext cx="80713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Summary: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Short-term swings highlight seasonal cycles—useful for monthly inflation forecasting.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3587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65" y="568329"/>
            <a:ext cx="8743950" cy="59555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A. Background – what was the issue</a:t>
            </a:r>
            <a:r>
              <a:rPr dirty="0" smtClean="0"/>
              <a:t>?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  <a:defRPr sz="1800">
                <a:solidFill>
                  <a:srgbClr val="333333"/>
                </a:solidFill>
              </a:defRPr>
            </a:pPr>
            <a:r>
              <a:rPr lang="en-US" sz="1200" dirty="0"/>
              <a:t>The objective was to assess </a:t>
            </a:r>
            <a:r>
              <a:rPr lang="en-US" sz="1200" b="1" dirty="0"/>
              <a:t>how the onset of COVID-19 (March 2020)</a:t>
            </a:r>
            <a:r>
              <a:rPr lang="en-US" sz="1200" dirty="0"/>
              <a:t> impacted inflation across key CPI categories like Food, Housing, Miscellaneous (services), Oils &amp; Fats, Pan/Tobacco, and Clothing &amp; Footwear.</a:t>
            </a:r>
            <a:br>
              <a:rPr lang="en-US" sz="1200" dirty="0"/>
            </a:br>
            <a:r>
              <a:rPr lang="en-US" sz="1200" dirty="0"/>
              <a:t>There was no clear visibility on </a:t>
            </a:r>
            <a:r>
              <a:rPr lang="en-US" sz="1200" b="1" dirty="0"/>
              <a:t>how inflation trends changed before vs after the pandemic</a:t>
            </a:r>
            <a:r>
              <a:rPr lang="en-US" sz="1200" dirty="0"/>
              <a:t>, so data needed to be segmented and compared by time period.</a:t>
            </a:r>
            <a:endParaRPr sz="1200"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B. Insight from data – </a:t>
            </a:r>
            <a:r>
              <a:rPr dirty="0" smtClean="0"/>
              <a:t>pivot table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Pivot Table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was created comparing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Pre-COVID (before Mar 2020)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Post-COVID (after Mar 2020)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averages for each CPI bucket.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57300" y="114304"/>
            <a:ext cx="7886700" cy="5627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smtClean="0">
                <a:solidFill>
                  <a:srgbClr val="0D2B5F"/>
                </a:solidFill>
              </a:rPr>
              <a:t>Problem 4: Analysis &amp; Insights</a:t>
            </a:r>
            <a:endParaRPr lang="en-IN" dirty="0">
              <a:solidFill>
                <a:srgbClr val="0D2B5F"/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371079"/>
              </p:ext>
            </p:extLst>
          </p:nvPr>
        </p:nvGraphicFramePr>
        <p:xfrm>
          <a:off x="2110154" y="3224946"/>
          <a:ext cx="4986704" cy="192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4" name="Worksheet" r:id="rId3" imgW="3962520" imgH="1533698" progId="Excel.Sheet.12">
                  <p:link updateAutomatic="1"/>
                </p:oleObj>
              </mc:Choice>
              <mc:Fallback>
                <p:oleObj name="Worksheet" r:id="rId3" imgW="3962520" imgH="153369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0154" y="3224946"/>
                        <a:ext cx="4986704" cy="192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65" y="568329"/>
            <a:ext cx="8743950" cy="59555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clustered column chart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clearly visualizes category-wise shifts.</a:t>
            </a:r>
          </a:p>
          <a:p>
            <a:pPr>
              <a:buFont typeface="Wingdings" panose="05000000000000000000" pitchFamily="2" charset="2"/>
              <a:buChar char="v"/>
              <a:defRPr sz="1800">
                <a:solidFill>
                  <a:srgbClr val="333333"/>
                </a:solidFill>
              </a:defRPr>
            </a:pPr>
            <a:endParaRPr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57300" y="114304"/>
            <a:ext cx="7886700" cy="5627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smtClean="0">
                <a:solidFill>
                  <a:srgbClr val="0D2B5F"/>
                </a:solidFill>
              </a:rPr>
              <a:t>Problem 4: Analysis &amp; Insights</a:t>
            </a:r>
            <a:endParaRPr lang="en-IN" dirty="0">
              <a:solidFill>
                <a:srgbClr val="0D2B5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rot="10800000" flipV="1">
            <a:off x="268164" y="1177676"/>
            <a:ext cx="7126547" cy="1317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Food bucket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saw the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sharpest rise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from 1562.86 → 1976.83, indicating strong food inflation.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Miscellaneous bucket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(includes essential services) rose from 990.90 → 1230.25, reflecting higher service-related inflation post-pandemic.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Oils &amp; fats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and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Pan/tobacco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categories also spiked, confirming broad-based inflationary pressure.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Housing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rose slightly, while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Clothing &amp; footwear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saw moderate post-COVID increases due to rising costs and supply disruptions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068855"/>
              </p:ext>
            </p:extLst>
          </p:nvPr>
        </p:nvGraphicFramePr>
        <p:xfrm>
          <a:off x="136280" y="2716457"/>
          <a:ext cx="8814289" cy="401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6" name="Worksheet" r:id="rId3" imgW="8143920" imgH="4010132" progId="Excel.Sheet.12">
                  <p:link updateAutomatic="1"/>
                </p:oleObj>
              </mc:Choice>
              <mc:Fallback>
                <p:oleObj name="Worksheet" r:id="rId3" imgW="8143920" imgH="4010132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6280" y="2716457"/>
                        <a:ext cx="8814289" cy="401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9900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509" y="395658"/>
            <a:ext cx="8897814" cy="607548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lang="en-US" dirty="0"/>
              <a:t>C</a:t>
            </a:r>
            <a:r>
              <a:rPr dirty="0" smtClean="0"/>
              <a:t>. </a:t>
            </a:r>
            <a:r>
              <a:rPr dirty="0"/>
              <a:t>Solution / Action – formula, automation, BI </a:t>
            </a:r>
            <a:r>
              <a:rPr dirty="0" smtClean="0"/>
              <a:t>logic</a:t>
            </a:r>
            <a:endParaRPr lang="en-US" dirty="0" smtClean="0"/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Created Helper Column: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 classify each record as “Pre-COVID” or “Post-COVID”: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 =IF(YEAR([@Date])&lt;2020,"Pre-COVID","Post-COVID") 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(Or if using full date check → =IF([@Date]&lt;DATE(2020,3,1),"Pre-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COVID","Post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-COVID"))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Pivot Table: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Values: Average of each CPI bucket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Columns: COVID status (Pre/Post)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Chart Visualization: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Clustered Column Chart → to show Before vs After comparison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Post-COVID bars in Blue, Pre-COVID in Orange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Automated Comparison Logic: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Dynamic pivot refresh with slicer support, automatically updates when new CPI data is added.</a:t>
            </a: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D. Result / Business Impact – show Before </a:t>
            </a:r>
            <a:r>
              <a:rPr dirty="0" smtClean="0"/>
              <a:t>vs </a:t>
            </a:r>
            <a:r>
              <a:rPr dirty="0"/>
              <a:t>After table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57300" y="114304"/>
            <a:ext cx="7886700" cy="5627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smtClean="0">
                <a:solidFill>
                  <a:srgbClr val="0D2B5F"/>
                </a:solidFill>
              </a:rPr>
              <a:t>Problem 4: Analysis &amp; Insights</a:t>
            </a:r>
            <a:endParaRPr lang="en-IN" dirty="0">
              <a:solidFill>
                <a:srgbClr val="0D2B5F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045446"/>
              </p:ext>
            </p:extLst>
          </p:nvPr>
        </p:nvGraphicFramePr>
        <p:xfrm>
          <a:off x="193432" y="3621454"/>
          <a:ext cx="8554915" cy="3131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983">
                  <a:extLst>
                    <a:ext uri="{9D8B030D-6E8A-4147-A177-3AD203B41FA5}">
                      <a16:colId xmlns:a16="http://schemas.microsoft.com/office/drawing/2014/main" val="2375031953"/>
                    </a:ext>
                  </a:extLst>
                </a:gridCol>
                <a:gridCol w="1710983">
                  <a:extLst>
                    <a:ext uri="{9D8B030D-6E8A-4147-A177-3AD203B41FA5}">
                      <a16:colId xmlns:a16="http://schemas.microsoft.com/office/drawing/2014/main" val="2740737048"/>
                    </a:ext>
                  </a:extLst>
                </a:gridCol>
                <a:gridCol w="1710983">
                  <a:extLst>
                    <a:ext uri="{9D8B030D-6E8A-4147-A177-3AD203B41FA5}">
                      <a16:colId xmlns:a16="http://schemas.microsoft.com/office/drawing/2014/main" val="2942000454"/>
                    </a:ext>
                  </a:extLst>
                </a:gridCol>
                <a:gridCol w="1710983">
                  <a:extLst>
                    <a:ext uri="{9D8B030D-6E8A-4147-A177-3AD203B41FA5}">
                      <a16:colId xmlns:a16="http://schemas.microsoft.com/office/drawing/2014/main" val="3906273725"/>
                    </a:ext>
                  </a:extLst>
                </a:gridCol>
                <a:gridCol w="1710983">
                  <a:extLst>
                    <a:ext uri="{9D8B030D-6E8A-4147-A177-3AD203B41FA5}">
                      <a16:colId xmlns:a16="http://schemas.microsoft.com/office/drawing/2014/main" val="379171930"/>
                    </a:ext>
                  </a:extLst>
                </a:gridCol>
              </a:tblGrid>
              <a:tr h="284138">
                <a:tc>
                  <a:txBody>
                    <a:bodyPr/>
                    <a:lstStyle/>
                    <a:p>
                      <a:r>
                        <a:rPr lang="en-IN" sz="1050" dirty="0"/>
                        <a:t>CPI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Pre-COVID Avg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Post-COVID Avg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% Increase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Observation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05930"/>
                  </a:ext>
                </a:extLst>
              </a:tr>
              <a:tr h="464953">
                <a:tc>
                  <a:txBody>
                    <a:bodyPr/>
                    <a:lstStyle/>
                    <a:p>
                      <a:r>
                        <a:rPr lang="en-IN" sz="1050" dirty="0"/>
                        <a:t>Food Bucket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1562.86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1976.83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+26.5%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Sharp rise – primary inflation driver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407012"/>
                  </a:ext>
                </a:extLst>
              </a:tr>
              <a:tr h="464953">
                <a:tc>
                  <a:txBody>
                    <a:bodyPr/>
                    <a:lstStyle/>
                    <a:p>
                      <a:r>
                        <a:rPr lang="en-IN" sz="1050"/>
                        <a:t>Housing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85.49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106.47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+24.5%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Moderate rise – household costs 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4606969"/>
                  </a:ext>
                </a:extLst>
              </a:tr>
              <a:tr h="464953">
                <a:tc>
                  <a:txBody>
                    <a:bodyPr/>
                    <a:lstStyle/>
                    <a:p>
                      <a:r>
                        <a:rPr lang="en-IN" sz="1050"/>
                        <a:t>Miscellaneous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990.90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1230.25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+24.2%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Strong post-COVID service inflation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963136"/>
                  </a:ext>
                </a:extLst>
              </a:tr>
              <a:tr h="464953">
                <a:tc>
                  <a:txBody>
                    <a:bodyPr/>
                    <a:lstStyle/>
                    <a:p>
                      <a:r>
                        <a:rPr lang="en-IN" sz="1050"/>
                        <a:t>Oils &amp; Fats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114.43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167.32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+46.2%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Supply disruption &amp; import cost surge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650163"/>
                  </a:ext>
                </a:extLst>
              </a:tr>
              <a:tr h="409737">
                <a:tc>
                  <a:txBody>
                    <a:bodyPr/>
                    <a:lstStyle/>
                    <a:p>
                      <a:r>
                        <a:rPr lang="en-IN" sz="1050"/>
                        <a:t>Pan/Tobacco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139.32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182.44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+31.0%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Lifestyle &amp; taxation impacts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822196"/>
                  </a:ext>
                </a:extLst>
              </a:tr>
              <a:tr h="577356">
                <a:tc>
                  <a:txBody>
                    <a:bodyPr/>
                    <a:lstStyle/>
                    <a:p>
                      <a:r>
                        <a:rPr lang="en-IN" sz="1050" dirty="0"/>
                        <a:t>Clothing &amp; Footwear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388.59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467.90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+20.4%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Cost inflation from imports &amp; demand revival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9584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59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509" y="509922"/>
            <a:ext cx="8897814" cy="5794130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r>
              <a:rPr dirty="0" smtClean="0"/>
              <a:t>Business Impact</a:t>
            </a:r>
            <a:endParaRPr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57300" y="-19903"/>
            <a:ext cx="7886700" cy="5627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smtClean="0">
                <a:solidFill>
                  <a:srgbClr val="0D2B5F"/>
                </a:solidFill>
              </a:rPr>
              <a:t>Problem 4: Analysis &amp; Insights</a:t>
            </a:r>
            <a:endParaRPr lang="en-IN" dirty="0">
              <a:solidFill>
                <a:srgbClr val="0D2B5F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323078"/>
              </p:ext>
            </p:extLst>
          </p:nvPr>
        </p:nvGraphicFramePr>
        <p:xfrm>
          <a:off x="105508" y="789297"/>
          <a:ext cx="8554914" cy="4033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819">
                  <a:extLst>
                    <a:ext uri="{9D8B030D-6E8A-4147-A177-3AD203B41FA5}">
                      <a16:colId xmlns:a16="http://schemas.microsoft.com/office/drawing/2014/main" val="2375031953"/>
                    </a:ext>
                  </a:extLst>
                </a:gridCol>
                <a:gridCol w="1425819">
                  <a:extLst>
                    <a:ext uri="{9D8B030D-6E8A-4147-A177-3AD203B41FA5}">
                      <a16:colId xmlns:a16="http://schemas.microsoft.com/office/drawing/2014/main" val="2740737048"/>
                    </a:ext>
                  </a:extLst>
                </a:gridCol>
                <a:gridCol w="1425819">
                  <a:extLst>
                    <a:ext uri="{9D8B030D-6E8A-4147-A177-3AD203B41FA5}">
                      <a16:colId xmlns:a16="http://schemas.microsoft.com/office/drawing/2014/main" val="2942000454"/>
                    </a:ext>
                  </a:extLst>
                </a:gridCol>
                <a:gridCol w="1425819">
                  <a:extLst>
                    <a:ext uri="{9D8B030D-6E8A-4147-A177-3AD203B41FA5}">
                      <a16:colId xmlns:a16="http://schemas.microsoft.com/office/drawing/2014/main" val="1599710783"/>
                    </a:ext>
                  </a:extLst>
                </a:gridCol>
                <a:gridCol w="1425819">
                  <a:extLst>
                    <a:ext uri="{9D8B030D-6E8A-4147-A177-3AD203B41FA5}">
                      <a16:colId xmlns:a16="http://schemas.microsoft.com/office/drawing/2014/main" val="3906273725"/>
                    </a:ext>
                  </a:extLst>
                </a:gridCol>
                <a:gridCol w="1425819">
                  <a:extLst>
                    <a:ext uri="{9D8B030D-6E8A-4147-A177-3AD203B41FA5}">
                      <a16:colId xmlns:a16="http://schemas.microsoft.com/office/drawing/2014/main" val="379171930"/>
                    </a:ext>
                  </a:extLst>
                </a:gridCol>
              </a:tblGrid>
              <a:tr h="284138">
                <a:tc>
                  <a:txBody>
                    <a:bodyPr/>
                    <a:lstStyle/>
                    <a:p>
                      <a:r>
                        <a:rPr lang="en-IN" sz="1050" dirty="0"/>
                        <a:t>CPI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Pre-COVID Avg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Post-COVID Avg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 smtClean="0"/>
                        <a:t>Point Change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% </a:t>
                      </a:r>
                      <a:r>
                        <a:rPr lang="en-IN" sz="1050" dirty="0" smtClean="0"/>
                        <a:t>Change</a:t>
                      </a:r>
                      <a:r>
                        <a:rPr lang="en-IN" sz="1050" baseline="0" dirty="0" smtClean="0"/>
                        <a:t> 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Observation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05930"/>
                  </a:ext>
                </a:extLst>
              </a:tr>
              <a:tr h="464953">
                <a:tc>
                  <a:txBody>
                    <a:bodyPr/>
                    <a:lstStyle/>
                    <a:p>
                      <a:r>
                        <a:rPr lang="en-IN" sz="1050" dirty="0"/>
                        <a:t>Food Bucket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1562.86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1976.83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 smtClean="0"/>
                        <a:t>+413.97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+26.5%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Sharp rise – primary inflation driver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407012"/>
                  </a:ext>
                </a:extLst>
              </a:tr>
              <a:tr h="464953">
                <a:tc>
                  <a:txBody>
                    <a:bodyPr/>
                    <a:lstStyle/>
                    <a:p>
                      <a:r>
                        <a:rPr lang="en-IN" sz="1050" dirty="0"/>
                        <a:t>Housing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85.49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106.47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 smtClean="0"/>
                        <a:t>+239.35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+24.5%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Significant rise – higher rental &amp; housing costs post-COVID</a:t>
                      </a:r>
                      <a:endParaRPr 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4606969"/>
                  </a:ext>
                </a:extLst>
              </a:tr>
              <a:tr h="464953">
                <a:tc>
                  <a:txBody>
                    <a:bodyPr/>
                    <a:lstStyle/>
                    <a:p>
                      <a:r>
                        <a:rPr lang="en-IN" sz="1050"/>
                        <a:t>Miscellaneous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990.90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1230.25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+239.35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+24.2%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Strong post-COVID service inflation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963136"/>
                  </a:ext>
                </a:extLst>
              </a:tr>
              <a:tr h="464953">
                <a:tc>
                  <a:txBody>
                    <a:bodyPr/>
                    <a:lstStyle/>
                    <a:p>
                      <a:r>
                        <a:rPr lang="en-IN" sz="1050"/>
                        <a:t>Oils &amp; Fats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114.43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167.32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+52.89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 smtClean="0"/>
                        <a:t>+46.22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Supply disruption &amp; import cost surge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650163"/>
                  </a:ext>
                </a:extLst>
              </a:tr>
              <a:tr h="409737">
                <a:tc>
                  <a:txBody>
                    <a:bodyPr/>
                    <a:lstStyle/>
                    <a:p>
                      <a:r>
                        <a:rPr lang="en-IN" sz="1050"/>
                        <a:t>Pan/Tobacco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139.32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182.44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+43.12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+</a:t>
                      </a:r>
                      <a:r>
                        <a:rPr lang="en-IN" sz="1050" dirty="0" smtClean="0"/>
                        <a:t>30.95%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Strong rise due to taxation, input cost increases, and higher post-COVID consumption</a:t>
                      </a:r>
                      <a:endParaRPr lang="en-IN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822196"/>
                  </a:ext>
                </a:extLst>
              </a:tr>
              <a:tr h="577356">
                <a:tc>
                  <a:txBody>
                    <a:bodyPr/>
                    <a:lstStyle/>
                    <a:p>
                      <a:r>
                        <a:rPr lang="en-IN" sz="1050" dirty="0"/>
                        <a:t>Clothing &amp; Footwear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388.59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467.90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+79.31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+20.4%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Cost push from imported materials and post-COVID demand recovery</a:t>
                      </a:r>
                      <a:endParaRPr 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9584124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105508" y="6042442"/>
            <a:ext cx="85549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Summary: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Food + </a:t>
            </a:r>
            <a:r>
              <a:rPr lang="en-US" sz="1400" dirty="0" err="1"/>
              <a:t>Misc</a:t>
            </a:r>
            <a:r>
              <a:rPr lang="en-US" sz="1400" dirty="0"/>
              <a:t> account for the </a:t>
            </a:r>
            <a:r>
              <a:rPr lang="en-US" sz="1400" b="1" dirty="0"/>
              <a:t>largest post-COVID inflation impact</a:t>
            </a:r>
            <a:r>
              <a:rPr lang="en-US" sz="1400" dirty="0"/>
              <a:t>, confirming broad-based price pressure.</a:t>
            </a:r>
            <a:endParaRPr lang="en-IN" sz="1400" dirty="0"/>
          </a:p>
        </p:txBody>
      </p:sp>
      <p:sp>
        <p:nvSpPr>
          <p:cNvPr id="7" name="Rectangle 6"/>
          <p:cNvSpPr/>
          <p:nvPr/>
        </p:nvSpPr>
        <p:spPr>
          <a:xfrm>
            <a:off x="105508" y="5045104"/>
            <a:ext cx="8721969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Point change = </a:t>
            </a:r>
            <a:r>
              <a:rPr lang="en-US" sz="1100" dirty="0" smtClean="0"/>
              <a:t>post </a:t>
            </a:r>
            <a:r>
              <a:rPr lang="en-US" sz="1100" dirty="0" err="1" smtClean="0"/>
              <a:t>covind</a:t>
            </a:r>
            <a:r>
              <a:rPr lang="en-US" sz="1100" dirty="0" smtClean="0"/>
              <a:t> </a:t>
            </a:r>
            <a:r>
              <a:rPr lang="en-US" sz="1100" dirty="0" err="1" smtClean="0"/>
              <a:t>Avg</a:t>
            </a:r>
            <a:r>
              <a:rPr lang="en-US" sz="1100" dirty="0" smtClean="0"/>
              <a:t>-Pre-</a:t>
            </a:r>
            <a:r>
              <a:rPr lang="en-US" sz="1100" dirty="0" err="1" smtClean="0"/>
              <a:t>Covind</a:t>
            </a:r>
            <a:r>
              <a:rPr lang="en-US" sz="1100" dirty="0" smtClean="0"/>
              <a:t> average</a:t>
            </a:r>
          </a:p>
          <a:p>
            <a:r>
              <a:rPr lang="en-US" sz="1100" b="1" dirty="0" smtClean="0"/>
              <a:t>%</a:t>
            </a:r>
            <a:r>
              <a:rPr lang="en-US" sz="1100" b="1" dirty="0" err="1" smtClean="0"/>
              <a:t>Cahnge</a:t>
            </a:r>
            <a:r>
              <a:rPr lang="en-US" sz="1100" b="1" dirty="0" smtClean="0"/>
              <a:t> Calculation </a:t>
            </a:r>
          </a:p>
          <a:p>
            <a:r>
              <a:rPr lang="en-US" sz="1100" dirty="0" smtClean="0"/>
              <a:t>(Point change/pre-</a:t>
            </a:r>
            <a:r>
              <a:rPr lang="en-US" sz="1100" dirty="0" err="1" smtClean="0"/>
              <a:t>Covind</a:t>
            </a:r>
            <a:r>
              <a:rPr lang="en-US" sz="1100" dirty="0" smtClean="0"/>
              <a:t> </a:t>
            </a:r>
            <a:r>
              <a:rPr lang="en-US" sz="1100" dirty="0" err="1" smtClean="0"/>
              <a:t>avg</a:t>
            </a:r>
            <a:r>
              <a:rPr lang="en-US" sz="1100" dirty="0" smtClean="0"/>
              <a:t>)/100</a:t>
            </a:r>
          </a:p>
          <a:p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>Food + </a:t>
            </a:r>
            <a:r>
              <a:rPr lang="en-US" sz="1100" dirty="0" err="1"/>
              <a:t>Misc</a:t>
            </a:r>
            <a:r>
              <a:rPr lang="en-US" sz="1100" dirty="0"/>
              <a:t> account for the </a:t>
            </a:r>
            <a:r>
              <a:rPr lang="en-US" sz="1100" b="1" dirty="0"/>
              <a:t>largest post-COVID inflation impact</a:t>
            </a:r>
            <a:r>
              <a:rPr lang="en-US" sz="1100" dirty="0"/>
              <a:t>, confirming broad-based price pressure.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753104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65" y="568329"/>
            <a:ext cx="8743950" cy="59555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A. Background – what was the issue</a:t>
            </a:r>
            <a:r>
              <a:rPr dirty="0" smtClean="0"/>
              <a:t>?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  <a:defRPr sz="1800">
                <a:solidFill>
                  <a:srgbClr val="333333"/>
                </a:solidFill>
              </a:defRPr>
            </a:pPr>
            <a:r>
              <a:rPr lang="en-US" sz="1200" dirty="0" smtClean="0"/>
              <a:t>1Imported </a:t>
            </a:r>
            <a:r>
              <a:rPr lang="en-US" sz="1200" dirty="0"/>
              <a:t>crude oil price data was missing from the main CPI dataset, preventing analysis of how oil fluctuations influenced domestic inflation categories. CPI data alone couldn’t explain volatility in certain months</a:t>
            </a:r>
            <a:r>
              <a:rPr lang="en-US" sz="1200" dirty="0" smtClean="0"/>
              <a:t>. compared </a:t>
            </a:r>
            <a:r>
              <a:rPr lang="en-US" sz="1200" dirty="0"/>
              <a:t>by time period.</a:t>
            </a:r>
            <a:endParaRPr sz="1200"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B. Insight from data – pivot table or </a:t>
            </a:r>
            <a:r>
              <a:rPr dirty="0" smtClean="0"/>
              <a:t>chart</a:t>
            </a:r>
            <a:endParaRPr lang="en-US" dirty="0" smtClean="0"/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200" dirty="0" smtClean="0"/>
              <a:t>After correlation analysis (2021–23 period), results showed: </a:t>
            </a:r>
            <a:br>
              <a:rPr lang="en-US" sz="1200" dirty="0" smtClean="0"/>
            </a:br>
            <a:r>
              <a:rPr lang="en-US" sz="1200" dirty="0" smtClean="0"/>
              <a:t>• </a:t>
            </a:r>
            <a:r>
              <a:rPr lang="en-US" sz="1200" b="1" dirty="0" smtClean="0"/>
              <a:t>Highest correlation</a:t>
            </a:r>
            <a:r>
              <a:rPr lang="en-US" sz="1200" dirty="0" smtClean="0"/>
              <a:t> – </a:t>
            </a:r>
            <a:r>
              <a:rPr lang="en-US" sz="1200" i="1" dirty="0" smtClean="0"/>
              <a:t>Clothing &amp; Footwear (r = 0.35)</a:t>
            </a:r>
            <a:r>
              <a:rPr lang="en-US" sz="1200" dirty="0" smtClean="0"/>
              <a:t> and </a:t>
            </a:r>
            <a:r>
              <a:rPr lang="en-US" sz="1200" i="1" dirty="0" smtClean="0"/>
              <a:t>Pan/Tobacco (r = 0.26)</a:t>
            </a:r>
            <a:r>
              <a:rPr lang="en-US" sz="1200" dirty="0" smtClean="0"/>
              <a:t> </a:t>
            </a:r>
            <a:br>
              <a:rPr lang="en-US" sz="1200" dirty="0" smtClean="0"/>
            </a:br>
            <a:r>
              <a:rPr lang="en-US" sz="1200" dirty="0" smtClean="0"/>
              <a:t>• </a:t>
            </a:r>
            <a:r>
              <a:rPr lang="en-US" sz="1200" b="1" dirty="0" smtClean="0"/>
              <a:t>Weak/Negative correlation</a:t>
            </a:r>
            <a:r>
              <a:rPr lang="en-US" sz="1200" dirty="0" smtClean="0"/>
              <a:t> – </a:t>
            </a:r>
            <a:r>
              <a:rPr lang="en-US" sz="1200" i="1" dirty="0" smtClean="0"/>
              <a:t>Food (-0.02)</a:t>
            </a:r>
            <a:r>
              <a:rPr lang="en-US" sz="1200" dirty="0" smtClean="0"/>
              <a:t> and </a:t>
            </a:r>
            <a:r>
              <a:rPr lang="en-US" sz="1200" i="1" dirty="0" smtClean="0"/>
              <a:t>Housing (-0.06)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clustered column chart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clearly visualizes category-wise shifts.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57300" y="114304"/>
            <a:ext cx="7886700" cy="5627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smtClean="0">
                <a:solidFill>
                  <a:srgbClr val="0D2B5F"/>
                </a:solidFill>
              </a:rPr>
              <a:t>Problem 5: Analysis &amp; Insights</a:t>
            </a:r>
            <a:endParaRPr lang="en-IN" dirty="0">
              <a:solidFill>
                <a:srgbClr val="0D2B5F"/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845325"/>
              </p:ext>
            </p:extLst>
          </p:nvPr>
        </p:nvGraphicFramePr>
        <p:xfrm>
          <a:off x="615461" y="2741857"/>
          <a:ext cx="7232058" cy="3069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8" name="Worksheet" r:id="rId3" imgW="13487400" imgH="5724392" progId="Excel.Sheet.12">
                  <p:link updateAutomatic="1"/>
                </p:oleObj>
              </mc:Choice>
              <mc:Fallback>
                <p:oleObj name="Worksheet" r:id="rId3" imgW="13487400" imgH="5724392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5461" y="2741857"/>
                        <a:ext cx="7232058" cy="30698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8239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65" y="568329"/>
            <a:ext cx="8743950" cy="59555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A. Background – what was the issue</a:t>
            </a:r>
            <a:r>
              <a:rPr dirty="0" smtClean="0"/>
              <a:t>?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  <a:defRPr sz="1800">
                <a:solidFill>
                  <a:srgbClr val="333333"/>
                </a:solidFill>
              </a:defRPr>
            </a:pPr>
            <a:r>
              <a:rPr lang="en-US" sz="1200" dirty="0" smtClean="0"/>
              <a:t>1Imported </a:t>
            </a:r>
            <a:r>
              <a:rPr lang="en-US" sz="1200" dirty="0"/>
              <a:t>crude oil price data was missing from the main CPI dataset, preventing analysis of how oil fluctuations influenced domestic inflation categories. CPI data alone couldn’t explain volatility in certain months</a:t>
            </a:r>
            <a:r>
              <a:rPr lang="en-US" sz="1200" dirty="0" smtClean="0"/>
              <a:t>. compared </a:t>
            </a:r>
            <a:r>
              <a:rPr lang="en-US" sz="1200" dirty="0"/>
              <a:t>by time period.</a:t>
            </a:r>
            <a:endParaRPr sz="1200"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B. Insight from data – pivot table or </a:t>
            </a:r>
            <a:r>
              <a:rPr dirty="0" smtClean="0"/>
              <a:t>chart</a:t>
            </a:r>
            <a:endParaRPr lang="en-US" dirty="0" smtClean="0"/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200" dirty="0" smtClean="0"/>
              <a:t>After correlation analysis (2021–23 period), results showed: </a:t>
            </a:r>
            <a:br>
              <a:rPr lang="en-US" sz="1200" dirty="0" smtClean="0"/>
            </a:br>
            <a:r>
              <a:rPr lang="en-US" sz="1200" dirty="0" smtClean="0"/>
              <a:t>• </a:t>
            </a:r>
            <a:r>
              <a:rPr lang="en-US" sz="1200" b="1" dirty="0" smtClean="0"/>
              <a:t>Highest correlation</a:t>
            </a:r>
            <a:r>
              <a:rPr lang="en-US" sz="1200" dirty="0" smtClean="0"/>
              <a:t> – </a:t>
            </a:r>
            <a:r>
              <a:rPr lang="en-US" sz="1200" i="1" dirty="0" smtClean="0"/>
              <a:t>Clothing &amp; Footwear (r = 0.35)</a:t>
            </a:r>
            <a:r>
              <a:rPr lang="en-US" sz="1200" dirty="0" smtClean="0"/>
              <a:t> and </a:t>
            </a:r>
            <a:r>
              <a:rPr lang="en-US" sz="1200" i="1" dirty="0" smtClean="0"/>
              <a:t>Pan/Tobacco (r = 0.26)</a:t>
            </a:r>
            <a:r>
              <a:rPr lang="en-US" sz="1200" dirty="0" smtClean="0"/>
              <a:t> </a:t>
            </a:r>
            <a:br>
              <a:rPr lang="en-US" sz="1200" dirty="0" smtClean="0"/>
            </a:br>
            <a:r>
              <a:rPr lang="en-US" sz="1200" dirty="0" smtClean="0"/>
              <a:t>• </a:t>
            </a:r>
            <a:r>
              <a:rPr lang="en-US" sz="1200" b="1" dirty="0" smtClean="0"/>
              <a:t>Weak/Negative correlation</a:t>
            </a:r>
            <a:r>
              <a:rPr lang="en-US" sz="1200" dirty="0" smtClean="0"/>
              <a:t> – </a:t>
            </a:r>
            <a:r>
              <a:rPr lang="en-US" sz="1200" i="1" dirty="0" smtClean="0"/>
              <a:t>Food (-0.02)</a:t>
            </a:r>
            <a:r>
              <a:rPr lang="en-US" sz="1200" dirty="0" smtClean="0"/>
              <a:t> and </a:t>
            </a:r>
            <a:r>
              <a:rPr lang="en-US" sz="1200" i="1" dirty="0" smtClean="0"/>
              <a:t>Housing (-0.06)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clustered column chart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clearly visualizes category-wise shifts.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57300" y="114304"/>
            <a:ext cx="7886700" cy="5627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smtClean="0">
                <a:solidFill>
                  <a:srgbClr val="0D2B5F"/>
                </a:solidFill>
              </a:rPr>
              <a:t>Problem 5: Analysis &amp; Insights</a:t>
            </a:r>
            <a:endParaRPr lang="en-IN" dirty="0">
              <a:solidFill>
                <a:srgbClr val="0D2B5F"/>
              </a:solidFill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4550800"/>
              </p:ext>
            </p:extLst>
          </p:nvPr>
        </p:nvGraphicFramePr>
        <p:xfrm>
          <a:off x="907440" y="3546110"/>
          <a:ext cx="5164988" cy="1702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1" name="Worksheet" r:id="rId3" imgW="3495600" imgH="1152432" progId="Excel.Sheet.12">
                  <p:link updateAutomatic="1"/>
                </p:oleObj>
              </mc:Choice>
              <mc:Fallback>
                <p:oleObj name="Worksheet" r:id="rId3" imgW="3495600" imgH="1152432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7440" y="3546110"/>
                        <a:ext cx="5164988" cy="17028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35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65" y="568329"/>
            <a:ext cx="8743950" cy="59555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 smtClean="0"/>
              <a:t>B</a:t>
            </a:r>
            <a:r>
              <a:rPr dirty="0"/>
              <a:t>. Insight from data – pivot table or </a:t>
            </a:r>
            <a:r>
              <a:rPr dirty="0" smtClean="0"/>
              <a:t>chart</a:t>
            </a:r>
            <a:endParaRPr lang="en-US" dirty="0" smtClean="0"/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200" b="1" dirty="0" smtClean="0"/>
              <a:t>Visualization</a:t>
            </a:r>
            <a:r>
              <a:rPr lang="en-US" sz="1200" dirty="0" smtClean="0"/>
              <a:t>  (bar chart) highlighted stronger linkage of oil to cost-intensive consumer goods rather than essentials.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buFont typeface="Wingdings" panose="05000000000000000000" pitchFamily="2" charset="2"/>
              <a:buChar char="v"/>
              <a:defRPr sz="1800">
                <a:solidFill>
                  <a:srgbClr val="333333"/>
                </a:solidFill>
              </a:defRPr>
            </a:pPr>
            <a:endParaRPr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57300" y="114304"/>
            <a:ext cx="7886700" cy="5627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smtClean="0">
                <a:solidFill>
                  <a:srgbClr val="0D2B5F"/>
                </a:solidFill>
              </a:rPr>
              <a:t>Problem 5: Analysis &amp; Insights</a:t>
            </a:r>
            <a:endParaRPr lang="en-IN" dirty="0">
              <a:solidFill>
                <a:srgbClr val="0D2B5F"/>
              </a:solidFill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215212"/>
              </p:ext>
            </p:extLst>
          </p:nvPr>
        </p:nvGraphicFramePr>
        <p:xfrm>
          <a:off x="268165" y="1798638"/>
          <a:ext cx="8541728" cy="447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4" name="Worksheet" r:id="rId3" imgW="10677600" imgH="4477003" progId="Excel.Sheet.12">
                  <p:link updateAutomatic="1"/>
                </p:oleObj>
              </mc:Choice>
              <mc:Fallback>
                <p:oleObj name="Worksheet" r:id="rId3" imgW="10677600" imgH="447700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8165" y="1798638"/>
                        <a:ext cx="8541728" cy="447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107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509" y="395658"/>
            <a:ext cx="8897814" cy="607548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lang="en-US" dirty="0"/>
              <a:t>C</a:t>
            </a:r>
            <a:r>
              <a:rPr dirty="0" smtClean="0"/>
              <a:t>. </a:t>
            </a:r>
            <a:r>
              <a:rPr dirty="0"/>
              <a:t>Solution / Action – formula, automation, BI </a:t>
            </a:r>
            <a:r>
              <a:rPr dirty="0" smtClean="0"/>
              <a:t>logic</a:t>
            </a:r>
            <a:endParaRPr lang="en-US" dirty="0" smtClean="0"/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Created Helper Column: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 classify each record as “Pre-COVID” or “Post-COVID”: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 =IF(YEAR([@Date])&lt;2020,"Pre-COVID","Post-COVID") 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(Or if using full date check → =IF([@Date]&lt;DATE(2020,3,1),"Pre-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COVID","Post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-COVID"))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Pivot Table: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Values: Average of each CPI bucket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Columns: COVID status (Pre/Post)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Chart Visualization: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Clustered Column Chart → to show Before vs After comparison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Post-COVID bars in Blue, Pre-COVID in Orange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Automated Comparison Logic: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Dynamic pivot refresh with slicer support, automatically updates when new CPI data is added.</a:t>
            </a:r>
            <a:endParaRPr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D. Result / Business Impact – show Before </a:t>
            </a:r>
            <a:r>
              <a:rPr dirty="0" smtClean="0"/>
              <a:t>vs </a:t>
            </a:r>
            <a:r>
              <a:rPr dirty="0"/>
              <a:t>After </a:t>
            </a:r>
            <a:r>
              <a:rPr dirty="0" smtClean="0"/>
              <a:t>table</a:t>
            </a:r>
            <a:endParaRPr lang="en-US" dirty="0" smtClean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lang="en-US" sz="1100" b="1" dirty="0"/>
              <a:t>Before:</a:t>
            </a:r>
            <a:r>
              <a:rPr lang="en-US" sz="1100" dirty="0"/>
              <a:t> No oil data linkage → CPI volatility seemed random and unexplained. </a:t>
            </a:r>
            <a:br>
              <a:rPr lang="en-US" sz="1100" dirty="0"/>
            </a:br>
            <a:r>
              <a:rPr lang="en-US" sz="1100" b="1" dirty="0"/>
              <a:t>After:</a:t>
            </a:r>
            <a:r>
              <a:rPr lang="en-US" sz="1100" dirty="0"/>
              <a:t> Integrated oil series revealed partial dependency — especially in </a:t>
            </a:r>
            <a:r>
              <a:rPr lang="en-US" sz="1100" i="1" dirty="0"/>
              <a:t>manufacturing-linked categories</a:t>
            </a:r>
            <a:r>
              <a:rPr lang="en-US" sz="1100" dirty="0"/>
              <a:t> (e.g., clothing, fuel-based products). Helped identify indirect inflation channels and informed energy-cost risk tracking in CPI analysis.</a:t>
            </a:r>
            <a:endParaRPr sz="11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57300" y="114304"/>
            <a:ext cx="7886700" cy="5627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smtClean="0">
                <a:solidFill>
                  <a:srgbClr val="0D2B5F"/>
                </a:solidFill>
              </a:rPr>
              <a:t>Problem 5: Analysis &amp; Insights</a:t>
            </a:r>
            <a:endParaRPr lang="en-IN" dirty="0">
              <a:solidFill>
                <a:srgbClr val="0D2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83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509" y="677012"/>
            <a:ext cx="8897814" cy="579413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r>
              <a:rPr dirty="0" smtClean="0"/>
              <a:t>Business Impact</a:t>
            </a:r>
            <a:endParaRPr lang="en-US" sz="1100" dirty="0"/>
          </a:p>
          <a:p>
            <a:pPr marL="0" indent="0">
              <a:buNone/>
              <a:defRPr sz="1800">
                <a:solidFill>
                  <a:srgbClr val="333333"/>
                </a:solidFill>
              </a:defRPr>
            </a:pPr>
            <a:endParaRPr sz="11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57300" y="114304"/>
            <a:ext cx="7886700" cy="5627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smtClean="0">
                <a:solidFill>
                  <a:srgbClr val="0D2B5F"/>
                </a:solidFill>
              </a:rPr>
              <a:t>Problem 5: Analysis &amp; Insights</a:t>
            </a:r>
            <a:endParaRPr lang="en-IN" dirty="0">
              <a:solidFill>
                <a:srgbClr val="0D2B5F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058181"/>
              </p:ext>
            </p:extLst>
          </p:nvPr>
        </p:nvGraphicFramePr>
        <p:xfrm>
          <a:off x="205154" y="1608016"/>
          <a:ext cx="8692660" cy="209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165">
                  <a:extLst>
                    <a:ext uri="{9D8B030D-6E8A-4147-A177-3AD203B41FA5}">
                      <a16:colId xmlns:a16="http://schemas.microsoft.com/office/drawing/2014/main" val="1474443996"/>
                    </a:ext>
                  </a:extLst>
                </a:gridCol>
                <a:gridCol w="2173165">
                  <a:extLst>
                    <a:ext uri="{9D8B030D-6E8A-4147-A177-3AD203B41FA5}">
                      <a16:colId xmlns:a16="http://schemas.microsoft.com/office/drawing/2014/main" val="1797660152"/>
                    </a:ext>
                  </a:extLst>
                </a:gridCol>
                <a:gridCol w="2173165">
                  <a:extLst>
                    <a:ext uri="{9D8B030D-6E8A-4147-A177-3AD203B41FA5}">
                      <a16:colId xmlns:a16="http://schemas.microsoft.com/office/drawing/2014/main" val="1284993"/>
                    </a:ext>
                  </a:extLst>
                </a:gridCol>
                <a:gridCol w="2173165">
                  <a:extLst>
                    <a:ext uri="{9D8B030D-6E8A-4147-A177-3AD203B41FA5}">
                      <a16:colId xmlns:a16="http://schemas.microsoft.com/office/drawing/2014/main" val="1533636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Category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Correlation (r)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Sensitivity (per 10% oil increase)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Impact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09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Clothing &amp; Footwear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0.35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3.5% CPI increase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Strongest linkage; manufacturing &amp; logistics costs respond to oil.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197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Pan/Tobacco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0.26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2.6% CPI increase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Weak–moderate sensitivity.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60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Food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–0.02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Negligible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No oil dependence; driven by domestic supply.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987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Housing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–0.06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Negligible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No meaningful oil impact.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57216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05154" y="4994061"/>
            <a:ext cx="86926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Summary: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Oil price volatility primarily impacts </a:t>
            </a:r>
            <a:r>
              <a:rPr lang="en-US" sz="1400" b="1" dirty="0"/>
              <a:t>manufactured goods</a:t>
            </a:r>
            <a:r>
              <a:rPr lang="en-US" sz="1400" dirty="0"/>
              <a:t>, not essential items like Food or Housing.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094" y="3921376"/>
            <a:ext cx="869266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Calculation :</a:t>
            </a:r>
          </a:p>
          <a:p>
            <a:r>
              <a:rPr lang="en-IN" sz="1200" dirty="0" smtClean="0"/>
              <a:t>Sensitivity  = Correlation </a:t>
            </a:r>
            <a:r>
              <a:rPr lang="en-US" sz="1200" dirty="0" smtClean="0"/>
              <a:t> * 10 </a:t>
            </a:r>
          </a:p>
          <a:p>
            <a:r>
              <a:rPr lang="en-US" sz="1400" dirty="0"/>
              <a:t/>
            </a:r>
            <a:br>
              <a:rPr lang="en-US" sz="1400" dirty="0"/>
            </a:b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9791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6627" y="165223"/>
            <a:ext cx="4690696" cy="399805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rgbClr val="0D2B5F"/>
                </a:solidFill>
              </a:rPr>
              <a:t>Final 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50632"/>
            <a:ext cx="7886700" cy="58996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 smtClean="0"/>
              <a:t>Data Preparation Summary:</a:t>
            </a:r>
            <a:endParaRPr lang="en-US" sz="1400" dirty="0" smtClean="0"/>
          </a:p>
          <a:p>
            <a:r>
              <a:rPr lang="en-US" sz="1400" dirty="0" smtClean="0"/>
              <a:t>All CPI datasets (2013–2023) cleaned — missing values, typos, and duplicate records resolved.</a:t>
            </a:r>
          </a:p>
          <a:p>
            <a:r>
              <a:rPr lang="en-US" sz="1400" dirty="0" smtClean="0"/>
              <a:t>Consistent category grouping applied (Food, Housing, Clothing, Miscellaneous, etc.).</a:t>
            </a:r>
          </a:p>
          <a:p>
            <a:r>
              <a:rPr lang="en-US" sz="1400" dirty="0" smtClean="0"/>
              <a:t>External </a:t>
            </a:r>
            <a:r>
              <a:rPr lang="en-US" sz="1400" b="1" dirty="0" smtClean="0"/>
              <a:t>Crude Oil price data</a:t>
            </a:r>
            <a:r>
              <a:rPr lang="en-US" sz="1400" dirty="0" smtClean="0"/>
              <a:t> integrated using VLOOKUP and helper column (</a:t>
            </a:r>
            <a:r>
              <a:rPr lang="en-US" sz="1400" i="1" dirty="0" err="1" smtClean="0"/>
              <a:t>Cruid</a:t>
            </a:r>
            <a:r>
              <a:rPr lang="en-US" sz="1400" i="1" dirty="0" smtClean="0"/>
              <a:t> Bucket</a:t>
            </a:r>
            <a:r>
              <a:rPr lang="en-US" sz="1400" dirty="0" smtClean="0"/>
              <a:t>).</a:t>
            </a:r>
          </a:p>
          <a:p>
            <a:r>
              <a:rPr lang="en-US" sz="1400" dirty="0" smtClean="0"/>
              <a:t>Derived </a:t>
            </a:r>
            <a:r>
              <a:rPr lang="en-US" sz="1400" b="1" dirty="0" smtClean="0"/>
              <a:t>YoY % Difference</a:t>
            </a:r>
            <a:r>
              <a:rPr lang="en-US" sz="1400" dirty="0" smtClean="0"/>
              <a:t> and </a:t>
            </a:r>
            <a:r>
              <a:rPr lang="en-US" sz="1400" b="1" dirty="0" smtClean="0"/>
              <a:t>Category Contribution</a:t>
            </a:r>
            <a:r>
              <a:rPr lang="en-US" sz="1400" dirty="0" smtClean="0"/>
              <a:t> metrics using Pivot Tables.</a:t>
            </a:r>
          </a:p>
          <a:p>
            <a:r>
              <a:rPr lang="en-US" sz="1400" dirty="0" smtClean="0"/>
              <a:t>Built automated visuals (Bar, Pie, Line charts) for trend and correlation analysis.</a:t>
            </a:r>
          </a:p>
          <a:p>
            <a:pPr marL="0" indent="0">
              <a:buNone/>
            </a:pPr>
            <a:r>
              <a:rPr lang="en-US" sz="1400" b="1" dirty="0" smtClean="0"/>
              <a:t>Business Results:</a:t>
            </a:r>
            <a:endParaRPr lang="en-US" sz="1400" dirty="0" smtClean="0"/>
          </a:p>
          <a:p>
            <a:r>
              <a:rPr lang="en-US" sz="1400" dirty="0" smtClean="0"/>
              <a:t>Provided actionable insights on </a:t>
            </a:r>
            <a:r>
              <a:rPr lang="en-US" sz="1400" b="1" dirty="0" smtClean="0"/>
              <a:t>major CPI drivers</a:t>
            </a:r>
            <a:r>
              <a:rPr lang="en-US" sz="1400" dirty="0" smtClean="0"/>
              <a:t> — </a:t>
            </a:r>
            <a:r>
              <a:rPr lang="en-US" sz="1400" i="1" dirty="0" smtClean="0"/>
              <a:t>Food (≈47%)</a:t>
            </a:r>
            <a:r>
              <a:rPr lang="en-US" sz="1400" dirty="0" smtClean="0"/>
              <a:t> and </a:t>
            </a:r>
            <a:r>
              <a:rPr lang="en-US" sz="1400" i="1" dirty="0" smtClean="0"/>
              <a:t>Miscellaneous (≈30%)</a:t>
            </a:r>
            <a:r>
              <a:rPr lang="en-US" sz="1400" dirty="0" smtClean="0"/>
              <a:t>.</a:t>
            </a:r>
          </a:p>
          <a:p>
            <a:r>
              <a:rPr lang="en-US" sz="1400" dirty="0" smtClean="0"/>
              <a:t>Identified periods of </a:t>
            </a:r>
            <a:r>
              <a:rPr lang="en-US" sz="1400" b="1" dirty="0" smtClean="0"/>
              <a:t>inflation spikes</a:t>
            </a:r>
            <a:r>
              <a:rPr lang="en-US" sz="1400" dirty="0" smtClean="0"/>
              <a:t> and </a:t>
            </a:r>
            <a:r>
              <a:rPr lang="en-US" sz="1400" b="1" dirty="0" smtClean="0"/>
              <a:t>weak oil correlation zones</a:t>
            </a:r>
            <a:r>
              <a:rPr lang="en-US" sz="1400" dirty="0" smtClean="0"/>
              <a:t>, guiding focus on domestic supply-side policies.</a:t>
            </a:r>
          </a:p>
          <a:p>
            <a:r>
              <a:rPr lang="en-US" sz="1400" dirty="0" smtClean="0"/>
              <a:t>Simplified over 30+ granular CPI items into 6 key analytical buckets for decision-making.</a:t>
            </a:r>
          </a:p>
          <a:p>
            <a:r>
              <a:rPr lang="en-US" sz="1400" dirty="0" smtClean="0"/>
              <a:t>Enhanced accuracy and consistency of CPI trend reporting.</a:t>
            </a:r>
          </a:p>
          <a:p>
            <a:pPr marL="0" indent="0">
              <a:buNone/>
            </a:pPr>
            <a:r>
              <a:rPr lang="en-US" sz="1400" b="1" dirty="0" smtClean="0"/>
              <a:t>Next Steps:</a:t>
            </a:r>
          </a:p>
          <a:p>
            <a:r>
              <a:rPr lang="en-US" sz="1400" dirty="0" smtClean="0"/>
              <a:t>🧩 Automation: Currently data refresh is manual. In future, I plan to learn and implement Power Query in Excel to automate monthly CPI and oil data updates.</a:t>
            </a:r>
          </a:p>
          <a:p>
            <a:r>
              <a:rPr lang="en-US" sz="1400" dirty="0" smtClean="0"/>
              <a:t>📊 Dashboard Maintenance: Interactive CPI trend dashboard already built in Excel; next step is to enhance it with dynamic filters and visuals.</a:t>
            </a:r>
          </a:p>
          <a:p>
            <a:r>
              <a:rPr lang="en-US" sz="1400" dirty="0" smtClean="0"/>
              <a:t>🔁 Scheduled Refresh: Plan to set up quarterly validation and refresh checks.</a:t>
            </a:r>
          </a:p>
          <a:p>
            <a:r>
              <a:rPr lang="en-US" sz="1400" dirty="0" smtClean="0"/>
              <a:t>🧠 Currently correlation analysis is applied. Regression modelling can be learned and implemented later to predict CPI movement based on oil price trends.</a:t>
            </a:r>
          </a:p>
          <a:p>
            <a:endParaRPr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</TotalTime>
  <Words>3808</Words>
  <Application>Microsoft Office PowerPoint</Application>
  <PresentationFormat>On-screen Show (4:3)</PresentationFormat>
  <Paragraphs>498</Paragraphs>
  <Slides>32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Links</vt:lpstr>
      </vt:variant>
      <vt:variant>
        <vt:i4>13</vt:i4>
      </vt:variant>
      <vt:variant>
        <vt:lpstr>Slide Titles</vt:lpstr>
      </vt:variant>
      <vt:variant>
        <vt:i4>32</vt:i4>
      </vt:variant>
    </vt:vector>
  </HeadingPairs>
  <TitlesOfParts>
    <vt:vector size="50" baseType="lpstr">
      <vt:lpstr>Arial</vt:lpstr>
      <vt:lpstr>Calibri</vt:lpstr>
      <vt:lpstr>Calibri Light</vt:lpstr>
      <vt:lpstr>Wingdings</vt:lpstr>
      <vt:lpstr>Office Theme</vt:lpstr>
      <vt:lpstr>file:///E:\Nidhi%20Data%20analytics%20class\CASE%20STUDAY%20PREPARATION\CPI-CaseStudy-Mokeup\India%20CPI%20Inflation%20Case%20Study.xlsx!1Bucket%20Details!R14C7:R20C8</vt:lpstr>
      <vt:lpstr>file:///E:\Nidhi%20Data%20analytics%20class\CASE%20STUDAY%20PREPARATION\CPI-CaseStudy-Mokeup\India%20CPI%20Inflation%20Case%20Study.xlsx!1Bucket%20Details!%5bIndia%20CPI%20Inflation%20Case%20Study.xlsx%5d1Bucket%20Details%20Chart%201</vt:lpstr>
      <vt:lpstr>file:///E:\Nidhi%20Data%20analytics%20class\CASE%20STUDAY%20PREPARATION\CPI-CaseStudy-Mokeup\India%20CPI%20Inflation%20Case%20Study.xlsx!2.YOY%20FOR%20GENERAL%20INDEX!R7C1:R14C2</vt:lpstr>
      <vt:lpstr>file:///E:\Nidhi%20Data%20analytics%20class\CASE%20STUDAY%20PREPARATION\CPI-CaseStudy-Mokeup\India%20CPI%20Inflation%20Case%20Study.xlsx!2.YOY%20FOR%20GENERAL%20INDEX!%5bIndia%20CPI%20Inflation%20Case%20Study.xlsx%5d2.YOY%20FOR%20GENERAL%20INDEX%20Chart%201</vt:lpstr>
      <vt:lpstr>file:///E:\Nidhi%20Data%20analytics%20class\CASE%20STUDAY%20PREPARATION\CPI-CaseStudy-Mokeup\India%20CPI%20Inflation%20Case%20Study.xlsx!%203.1.1Months%20Ending%20May%202023!R6C1:R18C4</vt:lpstr>
      <vt:lpstr>file:///E:\Nidhi%20Data%20analytics%20class\CASE%20STUDAY%20PREPARATION\CPI-CaseStudy-Mokeup\India%20CPI%20Inflation%20Case%20Study.xlsx!%203.1.1Months%20Ending%20May%202023!%5bIndia%20CPI%20Inflation%20Case%20Study.xlsx%5d%203.1.1Months%20Ending%20May%202023%20Chart%203</vt:lpstr>
      <vt:lpstr>file:///E:\Nidhi%20Data%20analytics%20class\CASE%20STUDAY%20PREPARATION\CPI-CaseStudy-Mokeup\India%20CPI%20Inflation%20Case%20Study.xlsx!3.1.2%20Same%20for%20Food%20Bucket%20!R3C1:R15C2</vt:lpstr>
      <vt:lpstr>file:///E:\Nidhi%20Data%20analytics%20class\CASE%20STUDAY%20PREPARATION\CPI-CaseStudy-Mokeup\India%20CPI%20Inflation%20Case%20Study.xlsx!3.1.2%20Same%20for%20Food%20Bucket%20!%5bIndia%20CPI%20Inflation%20Case%20Study.xlsx%5d3.1.2%20Same%20for%20Food%20Bucket%20%20Chart%201</vt:lpstr>
      <vt:lpstr>file:///E:\Nidhi%20Data%20analytics%20class\CASE%20STUDAY%20PREPARATION\CPI-CaseStudy-Mokeup\India%20CPI%20Inflation%20Case%20Study.xlsx!4.Covid%20Trend!R7C1:R14C3</vt:lpstr>
      <vt:lpstr>file:///E:\Nidhi%20Data%20analytics%20class\CASE%20STUDAY%20PREPARATION\CPI-CaseStudy-Mokeup\India%20CPI%20Inflation%20Case%20Study.xlsx!4.Covid%20Trend!%5bIndia%20CPI%20Inflation%20Case%20Study.xlsx%5d4.Covid%20Trend%20Chart%201</vt:lpstr>
      <vt:lpstr>file:///E:\Nidhi%20Data%20analytics%20class\CASE%20STUDAY%20PREPARATION\CPI-CaseStudy-Mokeup\India%20CPI%20Inflation%20Case%20Study.xlsx!5.oiland%20Gas!R7C1:R36C8</vt:lpstr>
      <vt:lpstr>file:///E:\Nidhi%20Data%20analytics%20class\CASE%20STUDAY%20PREPARATION\CPI-CaseStudy-Mokeup\India%20CPI%20Inflation%20Case%20Study.xlsx!5.oiland%20Gas!R45C2:R50C3</vt:lpstr>
      <vt:lpstr>file:///E:\Nidhi%20Data%20analytics%20class\CASE%20STUDAY%20PREPARATION\CPI-CaseStudy-Mokeup\India%20CPI%20Inflation%20Case%20Study.xlsx!5.oiland%20Gas!%5bIndia%20CPI%20Inflation%20Case%20Study.xlsx%5d5.oiland%20Gas%20Chart%201</vt:lpstr>
      <vt:lpstr>PowerPoint Presentation</vt:lpstr>
      <vt:lpstr>Objective</vt:lpstr>
      <vt:lpstr>CPI Case Highlights: 2017–2023</vt:lpstr>
      <vt:lpstr>CPI Case Highlights: 2017–2023</vt:lpstr>
      <vt:lpstr>Data Cleaning – Before vs After</vt:lpstr>
      <vt:lpstr>Data Cleaning – Before vs After</vt:lpstr>
      <vt:lpstr>Problem 1: Analysis &amp; Insights</vt:lpstr>
      <vt:lpstr>Problem 1: Analysis &amp; Insights</vt:lpstr>
      <vt:lpstr>Problem 1: Analysis &amp; Insights</vt:lpstr>
      <vt:lpstr>Problem 1: Analysis &amp; Insights</vt:lpstr>
      <vt:lpstr>Problem 2: Analysis &amp; Insights</vt:lpstr>
      <vt:lpstr>Problem 2: Analysis &amp; Insights</vt:lpstr>
      <vt:lpstr>Problem 2: Analysis &amp; Insights</vt:lpstr>
      <vt:lpstr>Problem 2: Analysis &amp; Insights</vt:lpstr>
      <vt:lpstr>Problem 3.1: Analysis &amp; Insights</vt:lpstr>
      <vt:lpstr>Problem 3.1: Analysis &amp; Insights</vt:lpstr>
      <vt:lpstr>Problem 3.1: Analysis &amp; Insights</vt:lpstr>
      <vt:lpstr>Problem 3.1: Analysis &amp; Insights</vt:lpstr>
      <vt:lpstr>Problem 3.2: Analysis &amp; Insights</vt:lpstr>
      <vt:lpstr>Problem 3.2: Analysis &amp; Insights</vt:lpstr>
      <vt:lpstr>Problem 3.2: Analysis &amp; Insights</vt:lpstr>
      <vt:lpstr>Problem 3.2: Analysis &amp; 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Summary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Nidhi</dc:creator>
  <cp:keywords/>
  <dc:description>generated using python-pptx</dc:description>
  <cp:lastModifiedBy>Nidhi</cp:lastModifiedBy>
  <cp:revision>96</cp:revision>
  <dcterms:created xsi:type="dcterms:W3CDTF">2013-01-27T09:14:16Z</dcterms:created>
  <dcterms:modified xsi:type="dcterms:W3CDTF">2025-11-28T03:30:04Z</dcterms:modified>
  <cp:category/>
</cp:coreProperties>
</file>